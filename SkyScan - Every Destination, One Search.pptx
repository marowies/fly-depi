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2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3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6256000" cy="9144000"/>
  <p:notesSz cx="9144000" cy="16256000"/>
  <p:embeddedFontLst>
    <p:embeddedFont>
      <p:font typeface="Liter" charset="-122" pitchFamily="34"/>
      <p:regular r:id="rId67"/>
    </p:embeddedFont>
    <p:embeddedFont>
      <p:font typeface="Quattrocento Sans" charset="-122" pitchFamily="34"/>
      <p:regular r:id="rId6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openxmlformats.org/officeDocument/2006/relationships/font" Target="fonts/font1.fntdata"/><Relationship Id="rId68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Spent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F5F5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Flight Search</c:v>
                  </c:pt>
                  <c:pt idx="1">
                    <c:v>Hotel Search</c:v>
                  </c:pt>
                  <c:pt idx="2">
                    <c:v>Car Rental</c:v>
                  </c:pt>
                  <c:pt idx="3">
                    <c:v>Insurance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3.2</c:v>
                </c:pt>
                <c:pt idx="2">
                  <c:v>1.8</c:v>
                </c:pt>
                <c:pt idx="3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F5F5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5F5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A0A0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$#,##0K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F5F5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180</c:v>
                </c:pt>
                <c:pt idx="2">
                  <c:v>720</c:v>
                </c:pt>
                <c:pt idx="3">
                  <c:v>2000</c:v>
                </c:pt>
              </c:numCache>
            </c:numRef>
          </c:val>
        </c:ser>
        <c:dLbls>
          <c:numFmt formatCode="$#,##0K" sourceLinked="0"/>
          <c:txPr>
            <a:bodyPr/>
            <a:lstStyle/>
            <a:p>
              <a:pPr>
                <a:defRPr b="0" i="0" strike="noStrike" sz="1600" u="none">
                  <a:solidFill>
                    <a:srgbClr val="F5F5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A0A0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Searches (K)</c:v>
                </c:pt>
              </c:strCache>
            </c:strRef>
          </c:tx>
          <c:spPr>
            <a:solidFill>
              <a:srgbClr val="D4AF37"/>
            </a:solidFill>
            <a:ln w="25400" cap="flat">
              <a:solidFill>
                <a:srgbClr val="D4AF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25</c:v>
                </c:pt>
                <c:pt idx="2">
                  <c:v>50</c:v>
                </c:pt>
                <c:pt idx="3">
                  <c:v>100</c:v>
                </c:pt>
                <c:pt idx="4">
                  <c:v>200</c:v>
                </c:pt>
                <c:pt idx="5">
                  <c:v>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0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kyscan.runasp.net/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skyscan.runasp.net/" TargetMode="Externa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10_Private_Jet_Flying_Over_Clouds_at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60000"/>
                </a:srgbClr>
              </a:gs>
              <a:gs pos="100000">
                <a:srgbClr val="0A0A0C">
                  <a:alpha val="90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540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GRADUATION PROJECT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48000" y="3048000"/>
            <a:ext cx="1016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spc="8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6858000" y="4445000"/>
            <a:ext cx="2540000" cy="25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762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spc="4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DESTINATION, ONE SEARCH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318000" y="5461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Fly Beyond Time &amp; Sky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53000" y="8128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u="sng" dirty="0">
                <a:solidFill>
                  <a:srgbClr val="6B6B65"/>
                </a:solidFill>
                <a:uFill>
                  <a:solidFill>
                    <a:srgbClr val="6B6B65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skyscan.runasp.net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1" flip="none">
          <a:gsLst>
            <a:gs pos="0">
              <a:srgbClr val="0A0A0C"/>
            </a:gs>
            <a:gs pos="50000">
              <a:srgbClr val="121216"/>
            </a:gs>
            <a:gs pos="100000">
              <a:srgbClr val="0A0A0C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What's Inside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22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24000" y="2260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857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24000" y="2895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49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24000" y="3530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4127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24000" y="4165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Overview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476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24000" y="4800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5397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24000" y="5435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603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24000" y="6070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88000" y="222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50000" y="2260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88000" y="2857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50000" y="2895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Analysis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88000" y="349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50000" y="3530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88000" y="4127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350000" y="4165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&amp; Reliability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88000" y="476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50000" y="4800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Roadmap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88000" y="5397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350000" y="5435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Lessons Learned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88000" y="603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50000" y="6070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</a:t>
            </a:r>
            <a:endParaRPr lang="en-US" sz="1800" dirty="0"/>
          </a:p>
        </p:txBody>
      </p:sp>
      <p:pic>
        <p:nvPicPr>
          <p:cNvPr id="33" name="Image 0" descr="https://kimi-img.moonshot.cn/pub/slides/okc/badrb4ll2gc4a/mnt/agents/output/skyscan/images/3_Elegant_Abstract_World_Map_Featuring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10160000" y="1524000"/>
            <a:ext cx="5334000" cy="55880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5" name="Text 32"/>
          <p:cNvSpPr/>
          <p:nvPr/>
        </p:nvSpPr>
        <p:spPr>
          <a:xfrm>
            <a:off x="762000" y="876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5_Frustrated_Traveler_Airport_Vide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Story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journey begins with a problem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 Sarah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349500"/>
            <a:ext cx="7112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Sarah is planning a trip from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Cairo to London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 opens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different tabs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airline websites, OTAs, and meta-search engines.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Prices range from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$485 to $1,240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same route.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 bookmarks three options and plans to decide tomorrow.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morning, two of those prices have increased.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2400"/>
              </a:spcBef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Sarah's story is not unique.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happens to millions of travelers every single day.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6000" y="1270000"/>
            <a:ext cx="6858000" cy="6096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17780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144000" y="2730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Websites opened to compare one flight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0" y="3556000"/>
            <a:ext cx="2540000" cy="127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38100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$755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9144000" y="4762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difference for the same route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5588000"/>
            <a:ext cx="2540000" cy="127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58420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67%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144000" y="67310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travelers worry they paid too much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13462000" y="8763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The Story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Traveler's Dilemma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476500"/>
            <a:ext cx="4572000" cy="2921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2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9116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Dozens of booking sites with different interfaces, prices, and hidden fees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476500"/>
            <a:ext cx="4572000" cy="2921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23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223000" y="342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Volatility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23000" y="39116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Fares change up to 70 times before departure. Dynamic pricing creates anxiety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2476500"/>
            <a:ext cx="4572000" cy="2921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3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0" y="342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Wasted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303000" y="39116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 hours spent researching flights for a single trip on average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969000"/>
            <a:ext cx="762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4.5 Hours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762000" y="7239000"/>
            <a:ext cx="762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time spent researching a single trip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62000" y="7937500"/>
            <a:ext cx="38100" cy="635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79375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i="1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promise of 'best price' rarely delivers."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13462000" y="8763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The Story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2_Free_Stormy_Airport_Scene_Image_Airplane.png">    </p:cNvPr>
          <p:cNvPicPr>
            <a:picLocks noChangeAspect="1"/>
          </p:cNvPicPr>
          <p:nvPr/>
        </p:nvPicPr>
        <p:blipFill>
          <a:blip r:embed="rId1"/>
          <a:srcRect l="183" r="18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flight search is broken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Fragmentation Overload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413000"/>
            <a:ext cx="762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flight booking industry is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hopelessly fragmented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Travelers must visit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4-7 different websites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making a decision.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site has a different interface, filters, and final prices.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53340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62000" y="6286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Airlines selling tickets directly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53340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0" y="6286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OTAs with different markups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82000" y="53340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382000" y="6286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Sites visited per booking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2667000"/>
            <a:ext cx="6350000" cy="3302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0" y="2984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Booking Maze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0" y="3492500"/>
            <a:ext cx="558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Airlines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sell directly with limited comparison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OTAs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markups and push their own inventory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Meta-search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engines show prices rarely bookable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Travelers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left navigating the chaos alone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13208000" y="8763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The Problem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Price Volatility Trap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540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70x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62000" y="3937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many times a fare changes before departure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4699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pricing algorithms adjust fares based on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demand, browsing history, and device type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fare seen in the morning can be </a:t>
            </a:r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gone by afternoon</a:t>
            </a:r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Travelers have no way to track these changes.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90000" y="2540000"/>
            <a:ext cx="6604000" cy="4445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98000" y="2921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Affects Prices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98000" y="3556000"/>
            <a:ext cx="558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Search demand and booking velocity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98000" y="4064000"/>
            <a:ext cx="558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Day of week and time of 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98000" y="4572000"/>
            <a:ext cx="558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Device type and browsing history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98000" y="5080000"/>
            <a:ext cx="558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Competitor pricing in real-time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8000" y="5588000"/>
            <a:ext cx="558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Seasonal trends and events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98000" y="63500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i="1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 Anxiety, overpayment, missed deals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3208000" y="8763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The Problem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Forgotten Journey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38%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762000" y="3937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travelers forget to check booking details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4699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changes go unnoticed. Departure time shifts are missed.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Travelers arrive at the 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wrong terminal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miss their flight entirely.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proactive reminders, the responsibility falls entirely on the traveler.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90000" y="20320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71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26571" y="63500"/>
                </a:moveTo>
                <a:lnTo>
                  <a:pt x="399143" y="63500"/>
                </a:lnTo>
                <a:lnTo>
                  <a:pt x="399143" y="476250"/>
                </a:lnTo>
                <a:cubicBezTo>
                  <a:pt x="399143" y="493812"/>
                  <a:pt x="415358" y="508000"/>
                  <a:pt x="435429" y="508000"/>
                </a:cubicBezTo>
                <a:lnTo>
                  <a:pt x="471714" y="508000"/>
                </a:lnTo>
                <a:cubicBezTo>
                  <a:pt x="491785" y="508000"/>
                  <a:pt x="508000" y="493812"/>
                  <a:pt x="508000" y="476250"/>
                </a:cubicBezTo>
                <a:cubicBezTo>
                  <a:pt x="508000" y="458688"/>
                  <a:pt x="491785" y="444500"/>
                  <a:pt x="471714" y="444500"/>
                </a:cubicBezTo>
                <a:lnTo>
                  <a:pt x="471714" y="63500"/>
                </a:lnTo>
                <a:cubicBezTo>
                  <a:pt x="471714" y="28476"/>
                  <a:pt x="439171" y="0"/>
                  <a:pt x="399143" y="0"/>
                </a:cubicBezTo>
                <a:lnTo>
                  <a:pt x="290286" y="0"/>
                </a:lnTo>
                <a:lnTo>
                  <a:pt x="290286" y="0"/>
                </a:lnTo>
                <a:lnTo>
                  <a:pt x="108857" y="0"/>
                </a:lnTo>
                <a:cubicBezTo>
                  <a:pt x="68829" y="0"/>
                  <a:pt x="36286" y="28476"/>
                  <a:pt x="36286" y="63500"/>
                </a:cubicBezTo>
                <a:lnTo>
                  <a:pt x="36286" y="444500"/>
                </a:lnTo>
                <a:cubicBezTo>
                  <a:pt x="16215" y="444500"/>
                  <a:pt x="0" y="458688"/>
                  <a:pt x="0" y="476250"/>
                </a:cubicBezTo>
                <a:cubicBezTo>
                  <a:pt x="0" y="493812"/>
                  <a:pt x="16215" y="508000"/>
                  <a:pt x="36286" y="508000"/>
                </a:cubicBezTo>
                <a:lnTo>
                  <a:pt x="290286" y="508000"/>
                </a:lnTo>
                <a:cubicBezTo>
                  <a:pt x="310356" y="508000"/>
                  <a:pt x="326571" y="493812"/>
                  <a:pt x="326571" y="476250"/>
                </a:cubicBezTo>
                <a:lnTo>
                  <a:pt x="326571" y="63500"/>
                </a:lnTo>
                <a:close/>
                <a:moveTo>
                  <a:pt x="181429" y="254000"/>
                </a:moveTo>
                <a:cubicBezTo>
                  <a:pt x="181429" y="236477"/>
                  <a:pt x="197688" y="222250"/>
                  <a:pt x="217714" y="222250"/>
                </a:cubicBezTo>
                <a:cubicBezTo>
                  <a:pt x="237741" y="222250"/>
                  <a:pt x="254000" y="236477"/>
                  <a:pt x="254000" y="254000"/>
                </a:cubicBezTo>
                <a:cubicBezTo>
                  <a:pt x="254000" y="271523"/>
                  <a:pt x="237741" y="285750"/>
                  <a:pt x="217714" y="285750"/>
                </a:cubicBezTo>
                <a:cubicBezTo>
                  <a:pt x="197688" y="285750"/>
                  <a:pt x="181429" y="271523"/>
                  <a:pt x="181429" y="2540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100330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Gate Changes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33000" y="28956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Last-minute changes leave travelers scrambling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90000" y="39370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71000" y="444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63500"/>
                </a:moveTo>
                <a:cubicBezTo>
                  <a:pt x="347486" y="63500"/>
                  <a:pt x="423333" y="148828"/>
                  <a:pt x="423333" y="254000"/>
                </a:cubicBezTo>
                <a:cubicBezTo>
                  <a:pt x="423333" y="359172"/>
                  <a:pt x="347486" y="444500"/>
                  <a:pt x="254000" y="444500"/>
                </a:cubicBezTo>
                <a:cubicBezTo>
                  <a:pt x="196497" y="444500"/>
                  <a:pt x="145609" y="412254"/>
                  <a:pt x="115006" y="362843"/>
                </a:cubicBezTo>
                <a:cubicBezTo>
                  <a:pt x="106098" y="348456"/>
                  <a:pt x="88459" y="344984"/>
                  <a:pt x="75671" y="355005"/>
                </a:cubicBezTo>
                <a:cubicBezTo>
                  <a:pt x="62883" y="365026"/>
                  <a:pt x="59796" y="384870"/>
                  <a:pt x="68703" y="399256"/>
                </a:cubicBezTo>
                <a:cubicBezTo>
                  <a:pt x="109449" y="464939"/>
                  <a:pt x="177271" y="508000"/>
                  <a:pt x="254000" y="508000"/>
                </a:cubicBezTo>
                <a:cubicBezTo>
                  <a:pt x="378707" y="508000"/>
                  <a:pt x="479778" y="394295"/>
                  <a:pt x="479778" y="254000"/>
                </a:cubicBezTo>
                <a:cubicBezTo>
                  <a:pt x="479778" y="113705"/>
                  <a:pt x="378707" y="0"/>
                  <a:pt x="254000" y="0"/>
                </a:cubicBezTo>
                <a:cubicBezTo>
                  <a:pt x="178417" y="0"/>
                  <a:pt x="111566" y="41771"/>
                  <a:pt x="70556" y="105866"/>
                </a:cubicBezTo>
                <a:lnTo>
                  <a:pt x="70556" y="79375"/>
                </a:lnTo>
                <a:cubicBezTo>
                  <a:pt x="70556" y="61813"/>
                  <a:pt x="57944" y="47625"/>
                  <a:pt x="42333" y="47625"/>
                </a:cubicBezTo>
                <a:cubicBezTo>
                  <a:pt x="26723" y="47625"/>
                  <a:pt x="14111" y="61813"/>
                  <a:pt x="14111" y="79375"/>
                </a:cubicBezTo>
                <a:lnTo>
                  <a:pt x="14111" y="190500"/>
                </a:lnTo>
                <a:cubicBezTo>
                  <a:pt x="14111" y="208062"/>
                  <a:pt x="26723" y="222250"/>
                  <a:pt x="42333" y="222250"/>
                </a:cubicBezTo>
                <a:lnTo>
                  <a:pt x="64029" y="222250"/>
                </a:lnTo>
                <a:cubicBezTo>
                  <a:pt x="64470" y="222250"/>
                  <a:pt x="64911" y="222250"/>
                  <a:pt x="65352" y="222250"/>
                </a:cubicBezTo>
                <a:lnTo>
                  <a:pt x="141199" y="222250"/>
                </a:lnTo>
                <a:cubicBezTo>
                  <a:pt x="156810" y="222250"/>
                  <a:pt x="169422" y="208062"/>
                  <a:pt x="169422" y="190500"/>
                </a:cubicBezTo>
                <a:cubicBezTo>
                  <a:pt x="169422" y="172938"/>
                  <a:pt x="156810" y="158750"/>
                  <a:pt x="141199" y="158750"/>
                </a:cubicBezTo>
                <a:lnTo>
                  <a:pt x="107421" y="158750"/>
                </a:lnTo>
                <a:cubicBezTo>
                  <a:pt x="136613" y="101798"/>
                  <a:pt x="191382" y="63500"/>
                  <a:pt x="254000" y="63500"/>
                </a:cubicBezTo>
                <a:close/>
                <a:moveTo>
                  <a:pt x="275167" y="150813"/>
                </a:moveTo>
                <a:cubicBezTo>
                  <a:pt x="275167" y="137616"/>
                  <a:pt x="265730" y="127000"/>
                  <a:pt x="254000" y="127000"/>
                </a:cubicBezTo>
                <a:cubicBezTo>
                  <a:pt x="242270" y="127000"/>
                  <a:pt x="232833" y="137616"/>
                  <a:pt x="232833" y="150813"/>
                </a:cubicBezTo>
                <a:lnTo>
                  <a:pt x="232833" y="254000"/>
                </a:lnTo>
                <a:cubicBezTo>
                  <a:pt x="232833" y="260350"/>
                  <a:pt x="235038" y="266402"/>
                  <a:pt x="239007" y="270867"/>
                </a:cubicBezTo>
                <a:lnTo>
                  <a:pt x="302507" y="342305"/>
                </a:lnTo>
                <a:cubicBezTo>
                  <a:pt x="310797" y="351631"/>
                  <a:pt x="324203" y="351631"/>
                  <a:pt x="332405" y="342305"/>
                </a:cubicBezTo>
                <a:cubicBezTo>
                  <a:pt x="340607" y="332978"/>
                  <a:pt x="340695" y="317897"/>
                  <a:pt x="332405" y="308670"/>
                </a:cubicBezTo>
                <a:lnTo>
                  <a:pt x="275078" y="244177"/>
                </a:lnTo>
                <a:lnTo>
                  <a:pt x="275078" y="150813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3000" y="438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Shifts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33000" y="48006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Departure delays disrupt entire travel plans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90000" y="58420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71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165695" y="165695"/>
                </a:moveTo>
                <a:cubicBezTo>
                  <a:pt x="175022" y="156369"/>
                  <a:pt x="190103" y="156369"/>
                  <a:pt x="199330" y="165695"/>
                </a:cubicBezTo>
                <a:lnTo>
                  <a:pt x="253901" y="220266"/>
                </a:lnTo>
                <a:lnTo>
                  <a:pt x="308471" y="165695"/>
                </a:lnTo>
                <a:cubicBezTo>
                  <a:pt x="317798" y="156369"/>
                  <a:pt x="332879" y="156369"/>
                  <a:pt x="342106" y="165695"/>
                </a:cubicBezTo>
                <a:cubicBezTo>
                  <a:pt x="351334" y="175022"/>
                  <a:pt x="351433" y="190103"/>
                  <a:pt x="342106" y="199330"/>
                </a:cubicBezTo>
                <a:lnTo>
                  <a:pt x="287536" y="253901"/>
                </a:lnTo>
                <a:lnTo>
                  <a:pt x="342106" y="308471"/>
                </a:lnTo>
                <a:cubicBezTo>
                  <a:pt x="351433" y="317798"/>
                  <a:pt x="351433" y="332879"/>
                  <a:pt x="342106" y="342106"/>
                </a:cubicBezTo>
                <a:cubicBezTo>
                  <a:pt x="332780" y="351334"/>
                  <a:pt x="317698" y="351433"/>
                  <a:pt x="308471" y="342106"/>
                </a:cubicBezTo>
                <a:lnTo>
                  <a:pt x="253901" y="287536"/>
                </a:lnTo>
                <a:lnTo>
                  <a:pt x="199330" y="342106"/>
                </a:lnTo>
                <a:cubicBezTo>
                  <a:pt x="190004" y="351433"/>
                  <a:pt x="174923" y="351433"/>
                  <a:pt x="165695" y="342106"/>
                </a:cubicBezTo>
                <a:cubicBezTo>
                  <a:pt x="156468" y="332780"/>
                  <a:pt x="156369" y="317698"/>
                  <a:pt x="165695" y="308471"/>
                </a:cubicBezTo>
                <a:lnTo>
                  <a:pt x="220266" y="253901"/>
                </a:lnTo>
                <a:lnTo>
                  <a:pt x="165695" y="199330"/>
                </a:lnTo>
                <a:cubicBezTo>
                  <a:pt x="156369" y="190004"/>
                  <a:pt x="156369" y="174923"/>
                  <a:pt x="165695" y="16569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33000" y="628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Missed Flights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33000" y="67056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Costly rebooking fees and ruined itineraries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13208000" y="8763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The Problem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Is the Real Cost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762000" y="2413000"/>
          <a:ext cx="7620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9144000" y="2413000"/>
            <a:ext cx="6350000" cy="431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25000" y="2794000"/>
            <a:ext cx="558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$2,500+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9525000" y="3810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annual cost of flight search per frequent traveler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525000" y="48260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travelers book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20+ trips per year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hours lost to flight search alone.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industry optimized for choice, not efficiency.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13208000" y="8763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The Problem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4_Airport_building_Photos_Download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platform. One search. Complete clarity.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Introducing SkyScan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413000"/>
            <a:ext cx="762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is 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flight search platform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designed to eliminate the chaos of flight booking.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not sell flights</a:t>
            </a:r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We do not add markups.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simply help travelers find the best flight options in the simplest way possible.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interface. Real comparisons. Zero confusion.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5969000"/>
            <a:ext cx="3429000" cy="2159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628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074" y="-24110"/>
                </a:moveTo>
                <a:lnTo>
                  <a:pt x="220821" y="8751"/>
                </a:lnTo>
                <a:lnTo>
                  <a:pt x="250031" y="21967"/>
                </a:lnTo>
                <a:cubicBezTo>
                  <a:pt x="252413" y="23039"/>
                  <a:pt x="254000" y="25718"/>
                  <a:pt x="254000" y="28575"/>
                </a:cubicBezTo>
                <a:cubicBezTo>
                  <a:pt x="254000" y="31433"/>
                  <a:pt x="252413" y="34111"/>
                  <a:pt x="250031" y="35183"/>
                </a:cubicBezTo>
                <a:lnTo>
                  <a:pt x="220821" y="48399"/>
                </a:lnTo>
                <a:lnTo>
                  <a:pt x="209074" y="81260"/>
                </a:lnTo>
                <a:cubicBezTo>
                  <a:pt x="208121" y="83939"/>
                  <a:pt x="205740" y="85725"/>
                  <a:pt x="203200" y="85725"/>
                </a:cubicBezTo>
                <a:cubicBezTo>
                  <a:pt x="200660" y="85725"/>
                  <a:pt x="198279" y="83939"/>
                  <a:pt x="197326" y="81260"/>
                </a:cubicBezTo>
                <a:lnTo>
                  <a:pt x="185579" y="48399"/>
                </a:lnTo>
                <a:lnTo>
                  <a:pt x="156369" y="35183"/>
                </a:lnTo>
                <a:cubicBezTo>
                  <a:pt x="153988" y="34111"/>
                  <a:pt x="152400" y="31432"/>
                  <a:pt x="152400" y="28575"/>
                </a:cubicBezTo>
                <a:cubicBezTo>
                  <a:pt x="152400" y="25718"/>
                  <a:pt x="153988" y="23039"/>
                  <a:pt x="156369" y="21967"/>
                </a:cubicBezTo>
                <a:lnTo>
                  <a:pt x="185579" y="8751"/>
                </a:lnTo>
                <a:lnTo>
                  <a:pt x="197326" y="-24110"/>
                </a:lnTo>
                <a:cubicBezTo>
                  <a:pt x="198279" y="-26789"/>
                  <a:pt x="200660" y="-28575"/>
                  <a:pt x="203200" y="-28575"/>
                </a:cubicBezTo>
                <a:cubicBezTo>
                  <a:pt x="205740" y="-28575"/>
                  <a:pt x="208121" y="-26789"/>
                  <a:pt x="209074" y="-24110"/>
                </a:cubicBezTo>
                <a:close/>
                <a:moveTo>
                  <a:pt x="87868" y="37237"/>
                </a:moveTo>
                <a:lnTo>
                  <a:pt x="104934" y="81975"/>
                </a:lnTo>
                <a:lnTo>
                  <a:pt x="144701" y="101173"/>
                </a:lnTo>
                <a:cubicBezTo>
                  <a:pt x="149384" y="103406"/>
                  <a:pt x="152400" y="108585"/>
                  <a:pt x="152400" y="114300"/>
                </a:cubicBezTo>
                <a:cubicBezTo>
                  <a:pt x="152400" y="120015"/>
                  <a:pt x="149384" y="125194"/>
                  <a:pt x="144701" y="127427"/>
                </a:cubicBezTo>
                <a:lnTo>
                  <a:pt x="104934" y="146625"/>
                </a:lnTo>
                <a:lnTo>
                  <a:pt x="87868" y="191363"/>
                </a:lnTo>
                <a:cubicBezTo>
                  <a:pt x="85884" y="196632"/>
                  <a:pt x="81280" y="200025"/>
                  <a:pt x="76200" y="200025"/>
                </a:cubicBezTo>
                <a:cubicBezTo>
                  <a:pt x="71120" y="200025"/>
                  <a:pt x="66516" y="196632"/>
                  <a:pt x="64532" y="191363"/>
                </a:cubicBezTo>
                <a:lnTo>
                  <a:pt x="47466" y="146625"/>
                </a:lnTo>
                <a:lnTo>
                  <a:pt x="7699" y="127427"/>
                </a:lnTo>
                <a:cubicBezTo>
                  <a:pt x="3016" y="125194"/>
                  <a:pt x="0" y="120015"/>
                  <a:pt x="0" y="114300"/>
                </a:cubicBezTo>
                <a:cubicBezTo>
                  <a:pt x="0" y="108585"/>
                  <a:pt x="3016" y="103406"/>
                  <a:pt x="7699" y="101173"/>
                </a:cubicBezTo>
                <a:lnTo>
                  <a:pt x="47466" y="81975"/>
                </a:lnTo>
                <a:lnTo>
                  <a:pt x="64532" y="37237"/>
                </a:lnTo>
                <a:cubicBezTo>
                  <a:pt x="66516" y="31968"/>
                  <a:pt x="71120" y="28575"/>
                  <a:pt x="76200" y="28575"/>
                </a:cubicBezTo>
                <a:cubicBezTo>
                  <a:pt x="81280" y="28575"/>
                  <a:pt x="85884" y="31968"/>
                  <a:pt x="87868" y="37237"/>
                </a:cubicBezTo>
                <a:close/>
                <a:moveTo>
                  <a:pt x="368300" y="271463"/>
                </a:moveTo>
                <a:cubicBezTo>
                  <a:pt x="373380" y="271463"/>
                  <a:pt x="377984" y="274856"/>
                  <a:pt x="379968" y="280124"/>
                </a:cubicBezTo>
                <a:lnTo>
                  <a:pt x="397034" y="324862"/>
                </a:lnTo>
                <a:lnTo>
                  <a:pt x="436801" y="344061"/>
                </a:lnTo>
                <a:cubicBezTo>
                  <a:pt x="441484" y="346293"/>
                  <a:pt x="444500" y="351473"/>
                  <a:pt x="444500" y="357188"/>
                </a:cubicBezTo>
                <a:cubicBezTo>
                  <a:pt x="444500" y="362903"/>
                  <a:pt x="441484" y="368082"/>
                  <a:pt x="436801" y="370314"/>
                </a:cubicBezTo>
                <a:lnTo>
                  <a:pt x="397034" y="389513"/>
                </a:lnTo>
                <a:lnTo>
                  <a:pt x="379968" y="434251"/>
                </a:lnTo>
                <a:cubicBezTo>
                  <a:pt x="377984" y="439519"/>
                  <a:pt x="373380" y="442913"/>
                  <a:pt x="368300" y="442913"/>
                </a:cubicBezTo>
                <a:cubicBezTo>
                  <a:pt x="363220" y="442913"/>
                  <a:pt x="358616" y="439519"/>
                  <a:pt x="356632" y="434251"/>
                </a:cubicBezTo>
                <a:lnTo>
                  <a:pt x="339566" y="389513"/>
                </a:lnTo>
                <a:lnTo>
                  <a:pt x="299799" y="370314"/>
                </a:lnTo>
                <a:cubicBezTo>
                  <a:pt x="295116" y="368082"/>
                  <a:pt x="292100" y="362903"/>
                  <a:pt x="292100" y="357188"/>
                </a:cubicBezTo>
                <a:cubicBezTo>
                  <a:pt x="292100" y="351473"/>
                  <a:pt x="295116" y="346293"/>
                  <a:pt x="299799" y="344061"/>
                </a:cubicBezTo>
                <a:lnTo>
                  <a:pt x="339566" y="324862"/>
                </a:lnTo>
                <a:lnTo>
                  <a:pt x="356632" y="280124"/>
                </a:lnTo>
                <a:cubicBezTo>
                  <a:pt x="358616" y="274856"/>
                  <a:pt x="363220" y="271463"/>
                  <a:pt x="368300" y="271463"/>
                </a:cubicBezTo>
                <a:close/>
                <a:moveTo>
                  <a:pt x="365125" y="0"/>
                </a:moveTo>
                <a:cubicBezTo>
                  <a:pt x="373856" y="0"/>
                  <a:pt x="382270" y="3929"/>
                  <a:pt x="388541" y="10894"/>
                </a:cubicBezTo>
                <a:lnTo>
                  <a:pt x="422116" y="48667"/>
                </a:lnTo>
                <a:cubicBezTo>
                  <a:pt x="428308" y="55721"/>
                  <a:pt x="431800" y="65187"/>
                  <a:pt x="431800" y="75009"/>
                </a:cubicBezTo>
                <a:cubicBezTo>
                  <a:pt x="431800" y="84832"/>
                  <a:pt x="428308" y="94298"/>
                  <a:pt x="422116" y="101352"/>
                </a:cubicBezTo>
                <a:lnTo>
                  <a:pt x="352107" y="180112"/>
                </a:lnTo>
                <a:lnTo>
                  <a:pt x="271701" y="89654"/>
                </a:lnTo>
                <a:lnTo>
                  <a:pt x="341709" y="10894"/>
                </a:lnTo>
                <a:cubicBezTo>
                  <a:pt x="347980" y="3929"/>
                  <a:pt x="356394" y="0"/>
                  <a:pt x="365125" y="0"/>
                </a:cubicBezTo>
                <a:close/>
                <a:moveTo>
                  <a:pt x="35084" y="355848"/>
                </a:moveTo>
                <a:lnTo>
                  <a:pt x="244793" y="119926"/>
                </a:lnTo>
                <a:lnTo>
                  <a:pt x="325199" y="210383"/>
                </a:lnTo>
                <a:lnTo>
                  <a:pt x="115491" y="446306"/>
                </a:lnTo>
                <a:cubicBezTo>
                  <a:pt x="109220" y="453271"/>
                  <a:pt x="100806" y="457200"/>
                  <a:pt x="92075" y="457200"/>
                </a:cubicBezTo>
                <a:cubicBezTo>
                  <a:pt x="83344" y="457200"/>
                  <a:pt x="74930" y="453271"/>
                  <a:pt x="68659" y="446306"/>
                </a:cubicBezTo>
                <a:lnTo>
                  <a:pt x="35084" y="408533"/>
                </a:lnTo>
                <a:cubicBezTo>
                  <a:pt x="28893" y="401479"/>
                  <a:pt x="25400" y="392013"/>
                  <a:pt x="25400" y="382191"/>
                </a:cubicBezTo>
                <a:cubicBezTo>
                  <a:pt x="25400" y="372368"/>
                  <a:pt x="28893" y="362903"/>
                  <a:pt x="35084" y="35584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68580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72644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fields to search. No clutter.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5969000"/>
            <a:ext cx="3429000" cy="2159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3000" y="628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5758" y="-8840"/>
                </a:moveTo>
                <a:cubicBezTo>
                  <a:pt x="357902" y="-1161"/>
                  <a:pt x="362392" y="12769"/>
                  <a:pt x="356881" y="24914"/>
                </a:cubicBezTo>
                <a:lnTo>
                  <a:pt x="276871" y="200025"/>
                </a:lnTo>
                <a:lnTo>
                  <a:pt x="424543" y="200025"/>
                </a:lnTo>
                <a:cubicBezTo>
                  <a:pt x="438320" y="200025"/>
                  <a:pt x="450567" y="207526"/>
                  <a:pt x="455261" y="218867"/>
                </a:cubicBezTo>
                <a:cubicBezTo>
                  <a:pt x="459955" y="230207"/>
                  <a:pt x="455975" y="242888"/>
                  <a:pt x="445464" y="250567"/>
                </a:cubicBezTo>
                <a:lnTo>
                  <a:pt x="151550" y="464880"/>
                </a:lnTo>
                <a:cubicBezTo>
                  <a:pt x="140018" y="473273"/>
                  <a:pt x="123587" y="473720"/>
                  <a:pt x="111443" y="466040"/>
                </a:cubicBezTo>
                <a:cubicBezTo>
                  <a:pt x="99298" y="458361"/>
                  <a:pt x="94808" y="444431"/>
                  <a:pt x="100319" y="432286"/>
                </a:cubicBezTo>
                <a:lnTo>
                  <a:pt x="180329" y="257175"/>
                </a:lnTo>
                <a:lnTo>
                  <a:pt x="32657" y="257175"/>
                </a:lnTo>
                <a:cubicBezTo>
                  <a:pt x="18880" y="257175"/>
                  <a:pt x="6633" y="249674"/>
                  <a:pt x="1939" y="238333"/>
                </a:cubicBezTo>
                <a:cubicBezTo>
                  <a:pt x="-2755" y="226993"/>
                  <a:pt x="1225" y="214312"/>
                  <a:pt x="11736" y="206633"/>
                </a:cubicBezTo>
                <a:lnTo>
                  <a:pt x="305650" y="-7680"/>
                </a:lnTo>
                <a:cubicBezTo>
                  <a:pt x="317183" y="-16073"/>
                  <a:pt x="333613" y="-16520"/>
                  <a:pt x="345758" y="-884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953000" y="68580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53000" y="72644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in seconds, not minutes.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82000" y="5969000"/>
            <a:ext cx="3429000" cy="2159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63000" y="628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-14287"/>
                </a:moveTo>
                <a:cubicBezTo>
                  <a:pt x="242649" y="-14287"/>
                  <a:pt x="254000" y="-1518"/>
                  <a:pt x="254000" y="14288"/>
                </a:cubicBezTo>
                <a:lnTo>
                  <a:pt x="254000" y="30629"/>
                </a:lnTo>
                <a:cubicBezTo>
                  <a:pt x="331867" y="43130"/>
                  <a:pt x="393462" y="112425"/>
                  <a:pt x="404574" y="200025"/>
                </a:cubicBezTo>
                <a:lnTo>
                  <a:pt x="419100" y="200025"/>
                </a:lnTo>
                <a:cubicBezTo>
                  <a:pt x="433149" y="200025"/>
                  <a:pt x="444500" y="212794"/>
                  <a:pt x="444500" y="228600"/>
                </a:cubicBezTo>
                <a:cubicBezTo>
                  <a:pt x="444500" y="244406"/>
                  <a:pt x="433149" y="257175"/>
                  <a:pt x="419100" y="257175"/>
                </a:cubicBezTo>
                <a:lnTo>
                  <a:pt x="404574" y="257175"/>
                </a:lnTo>
                <a:cubicBezTo>
                  <a:pt x="393462" y="344775"/>
                  <a:pt x="331867" y="414070"/>
                  <a:pt x="254000" y="426571"/>
                </a:cubicBezTo>
                <a:lnTo>
                  <a:pt x="254000" y="442913"/>
                </a:lnTo>
                <a:cubicBezTo>
                  <a:pt x="254000" y="458718"/>
                  <a:pt x="242649" y="471488"/>
                  <a:pt x="228600" y="471488"/>
                </a:cubicBezTo>
                <a:cubicBezTo>
                  <a:pt x="214551" y="471488"/>
                  <a:pt x="203200" y="458718"/>
                  <a:pt x="203200" y="442913"/>
                </a:cubicBezTo>
                <a:lnTo>
                  <a:pt x="203200" y="426571"/>
                </a:lnTo>
                <a:cubicBezTo>
                  <a:pt x="125333" y="414070"/>
                  <a:pt x="63738" y="344775"/>
                  <a:pt x="52626" y="257175"/>
                </a:cubicBezTo>
                <a:lnTo>
                  <a:pt x="38100" y="257175"/>
                </a:lnTo>
                <a:cubicBezTo>
                  <a:pt x="24051" y="257175"/>
                  <a:pt x="12700" y="244406"/>
                  <a:pt x="12700" y="228600"/>
                </a:cubicBezTo>
                <a:cubicBezTo>
                  <a:pt x="12700" y="212794"/>
                  <a:pt x="24051" y="200025"/>
                  <a:pt x="38100" y="200025"/>
                </a:cubicBezTo>
                <a:lnTo>
                  <a:pt x="52626" y="200025"/>
                </a:lnTo>
                <a:cubicBezTo>
                  <a:pt x="63738" y="112425"/>
                  <a:pt x="125333" y="43130"/>
                  <a:pt x="203200" y="30629"/>
                </a:cubicBezTo>
                <a:lnTo>
                  <a:pt x="203200" y="14288"/>
                </a:lnTo>
                <a:cubicBezTo>
                  <a:pt x="203200" y="-1518"/>
                  <a:pt x="214551" y="-14287"/>
                  <a:pt x="228600" y="-14287"/>
                </a:cubicBezTo>
                <a:close/>
                <a:moveTo>
                  <a:pt x="104140" y="257175"/>
                </a:moveTo>
                <a:cubicBezTo>
                  <a:pt x="114221" y="313164"/>
                  <a:pt x="153432" y="357277"/>
                  <a:pt x="203200" y="368618"/>
                </a:cubicBezTo>
                <a:lnTo>
                  <a:pt x="203200" y="357188"/>
                </a:lnTo>
                <a:cubicBezTo>
                  <a:pt x="203200" y="341382"/>
                  <a:pt x="214551" y="328613"/>
                  <a:pt x="228600" y="328613"/>
                </a:cubicBezTo>
                <a:cubicBezTo>
                  <a:pt x="242649" y="328613"/>
                  <a:pt x="254000" y="341382"/>
                  <a:pt x="254000" y="357188"/>
                </a:cubicBezTo>
                <a:lnTo>
                  <a:pt x="254000" y="368618"/>
                </a:lnTo>
                <a:cubicBezTo>
                  <a:pt x="303768" y="357277"/>
                  <a:pt x="342979" y="313164"/>
                  <a:pt x="353060" y="257175"/>
                </a:cubicBezTo>
                <a:lnTo>
                  <a:pt x="342900" y="257175"/>
                </a:lnTo>
                <a:cubicBezTo>
                  <a:pt x="328851" y="257175"/>
                  <a:pt x="317500" y="244406"/>
                  <a:pt x="317500" y="228600"/>
                </a:cubicBezTo>
                <a:cubicBezTo>
                  <a:pt x="317500" y="212794"/>
                  <a:pt x="328851" y="200025"/>
                  <a:pt x="342900" y="200025"/>
                </a:cubicBezTo>
                <a:lnTo>
                  <a:pt x="353060" y="200025"/>
                </a:lnTo>
                <a:cubicBezTo>
                  <a:pt x="342979" y="144036"/>
                  <a:pt x="303768" y="99923"/>
                  <a:pt x="254000" y="88583"/>
                </a:cubicBezTo>
                <a:lnTo>
                  <a:pt x="254000" y="100013"/>
                </a:lnTo>
                <a:cubicBezTo>
                  <a:pt x="254000" y="115818"/>
                  <a:pt x="242649" y="128588"/>
                  <a:pt x="228600" y="128588"/>
                </a:cubicBezTo>
                <a:cubicBezTo>
                  <a:pt x="214551" y="128588"/>
                  <a:pt x="203200" y="115818"/>
                  <a:pt x="203200" y="100013"/>
                </a:cubicBezTo>
                <a:lnTo>
                  <a:pt x="203200" y="88583"/>
                </a:lnTo>
                <a:cubicBezTo>
                  <a:pt x="153432" y="99923"/>
                  <a:pt x="114221" y="144036"/>
                  <a:pt x="104140" y="200025"/>
                </a:cubicBezTo>
                <a:lnTo>
                  <a:pt x="114300" y="200025"/>
                </a:lnTo>
                <a:cubicBezTo>
                  <a:pt x="128349" y="200025"/>
                  <a:pt x="139700" y="212794"/>
                  <a:pt x="139700" y="228600"/>
                </a:cubicBezTo>
                <a:cubicBezTo>
                  <a:pt x="139700" y="244406"/>
                  <a:pt x="128349" y="257175"/>
                  <a:pt x="114300" y="257175"/>
                </a:cubicBezTo>
                <a:lnTo>
                  <a:pt x="104140" y="257175"/>
                </a:lnTo>
                <a:close/>
                <a:moveTo>
                  <a:pt x="228600" y="185738"/>
                </a:moveTo>
                <a:cubicBezTo>
                  <a:pt x="249628" y="185738"/>
                  <a:pt x="266700" y="204944"/>
                  <a:pt x="266700" y="228600"/>
                </a:cubicBezTo>
                <a:cubicBezTo>
                  <a:pt x="266700" y="252256"/>
                  <a:pt x="249628" y="271463"/>
                  <a:pt x="228600" y="271463"/>
                </a:cubicBezTo>
                <a:cubicBezTo>
                  <a:pt x="207572" y="271463"/>
                  <a:pt x="190500" y="252256"/>
                  <a:pt x="190500" y="228600"/>
                </a:cubicBezTo>
                <a:cubicBezTo>
                  <a:pt x="190500" y="204944"/>
                  <a:pt x="207572" y="185738"/>
                  <a:pt x="228600" y="18573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68580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63000" y="72644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thing done exceptionally well.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192000" y="5969000"/>
            <a:ext cx="3302000" cy="2159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0" y="628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3000" y="6858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573000" y="7264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Transparent, always available.</a:t>
            </a:r>
            <a:endParaRPr lang="en-US" sz="1400" dirty="0"/>
          </a:p>
        </p:txBody>
      </p:sp>
      <p:pic>
        <p:nvPicPr>
          <p:cNvPr id="23" name="Image 0" descr="https://kimi-img.moonshot.cn/pub/slides/okc/badrb4ll2gc4a/mnt/agents/output/skyscan/images/4_Private_Jet_Clouds_Images_Brow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2032000"/>
            <a:ext cx="6350000" cy="3556000"/>
          </a:xfrm>
          <a:prstGeom prst="roundRect">
            <a:avLst>
              <a:gd name="adj" fmla="val 8000"/>
            </a:avLst>
          </a:prstGeom>
        </p:spPr>
      </p:pic>
      <p:sp>
        <p:nvSpPr>
          <p:cNvPr id="24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2"/>
          <p:cNvSpPr/>
          <p:nvPr/>
        </p:nvSpPr>
        <p:spPr>
          <a:xfrm>
            <a:off x="12954000" y="876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Our Solution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rotWithShape="1" flip="none">
          <a:gsLst>
            <a:gs pos="0">
              <a:srgbClr val="0A0A0C"/>
            </a:gs>
            <a:gs pos="100000">
              <a:srgbClr val="121216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Philosophy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159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778000" y="3556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believe flight search should be </a:t>
            </a:r>
            <a:pPr algn="l">
              <a:lnSpc>
                <a:spcPct val="130000"/>
              </a:lnSpc>
            </a:pPr>
            <a:r>
              <a:rPr lang="en-US" sz="3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effortless</a:t>
            </a:r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78000" y="4699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clutter. No noise. No overwhelming options.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 a clean, elegant interface that shows travelers exactly what they need.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focus on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thing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we aim to do it better than anyone else.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78000" y="7366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Simplicity is not a limitation. It is our superpower.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700000" y="2540000"/>
            <a:ext cx="38100" cy="5080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13208000" y="3048000"/>
            <a:ext cx="2286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CLARITY</a:t>
            </a:r>
            <a:endParaRPr lang="en-US" sz="1600" dirty="0"/>
          </a:p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</a:t>
            </a:r>
            <a:endParaRPr lang="en-US" sz="1600" dirty="0"/>
          </a:p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</a:t>
            </a:r>
            <a:endParaRPr lang="en-US" sz="1600" dirty="0"/>
          </a:p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</a:t>
            </a:r>
            <a:endParaRPr lang="en-US" sz="1600" dirty="0"/>
          </a:p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ELEGANCE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0" y="876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Our Solution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4_Private_Jet_Clouds_Images_Browse.png">    </p:cNvPr>
          <p:cNvPicPr>
            <a:picLocks noChangeAspect="1"/>
          </p:cNvPicPr>
          <p:nvPr/>
        </p:nvPicPr>
        <p:blipFill>
          <a:blip r:embed="rId1"/>
          <a:srcRect l="3216" r="321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FOUR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Overview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SkyScan in action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SkyScan Experience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413000"/>
            <a:ext cx="7112000" cy="5715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0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90964" y="0"/>
                  <a:pt x="0" y="90964"/>
                  <a:pt x="0" y="203200"/>
                </a:cubicBezTo>
                <a:cubicBezTo>
                  <a:pt x="0" y="315436"/>
                  <a:pt x="90964" y="406400"/>
                  <a:pt x="203200" y="406400"/>
                </a:cubicBezTo>
                <a:cubicBezTo>
                  <a:pt x="257810" y="406400"/>
                  <a:pt x="307419" y="384810"/>
                  <a:pt x="343932" y="349726"/>
                </a:cubicBezTo>
                <a:cubicBezTo>
                  <a:pt x="349726" y="344170"/>
                  <a:pt x="351393" y="335518"/>
                  <a:pt x="348139" y="328216"/>
                </a:cubicBezTo>
                <a:cubicBezTo>
                  <a:pt x="344884" y="320913"/>
                  <a:pt x="337264" y="316389"/>
                  <a:pt x="329248" y="317024"/>
                </a:cubicBezTo>
                <a:cubicBezTo>
                  <a:pt x="325358" y="317341"/>
                  <a:pt x="321469" y="317500"/>
                  <a:pt x="317500" y="317500"/>
                </a:cubicBezTo>
                <a:cubicBezTo>
                  <a:pt x="236855" y="317500"/>
                  <a:pt x="171450" y="252095"/>
                  <a:pt x="171450" y="171450"/>
                </a:cubicBezTo>
                <a:cubicBezTo>
                  <a:pt x="171450" y="114221"/>
                  <a:pt x="204391" y="64611"/>
                  <a:pt x="252492" y="40640"/>
                </a:cubicBezTo>
                <a:cubicBezTo>
                  <a:pt x="259715" y="37068"/>
                  <a:pt x="263843" y="29289"/>
                  <a:pt x="262890" y="21272"/>
                </a:cubicBezTo>
                <a:cubicBezTo>
                  <a:pt x="261938" y="13256"/>
                  <a:pt x="256064" y="6747"/>
                  <a:pt x="248206" y="5001"/>
                </a:cubicBezTo>
                <a:cubicBezTo>
                  <a:pt x="233680" y="1746"/>
                  <a:pt x="218599" y="0"/>
                  <a:pt x="2032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905000" y="2819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Dark Immersive UI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5000" y="32385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Inspired by the night sky. Easy on the eyes, premium in feel.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" y="406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1905000" y="4089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Glassmorphism Cards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05000" y="45085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Frosted glass elements float above stunning aviation imagery.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700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03200"/>
                </a:moveTo>
                <a:cubicBezTo>
                  <a:pt x="406400" y="203914"/>
                  <a:pt x="406400" y="204629"/>
                  <a:pt x="406400" y="205343"/>
                </a:cubicBezTo>
                <a:cubicBezTo>
                  <a:pt x="406083" y="234315"/>
                  <a:pt x="379730" y="254000"/>
                  <a:pt x="350758" y="254000"/>
                </a:cubicBezTo>
                <a:lnTo>
                  <a:pt x="273050" y="254000"/>
                </a:lnTo>
                <a:cubicBezTo>
                  <a:pt x="252016" y="254000"/>
                  <a:pt x="234950" y="271066"/>
                  <a:pt x="234950" y="292100"/>
                </a:cubicBezTo>
                <a:cubicBezTo>
                  <a:pt x="234950" y="294799"/>
                  <a:pt x="235267" y="297418"/>
                  <a:pt x="235744" y="299958"/>
                </a:cubicBezTo>
                <a:cubicBezTo>
                  <a:pt x="237411" y="308054"/>
                  <a:pt x="240903" y="315833"/>
                  <a:pt x="244316" y="323691"/>
                </a:cubicBezTo>
                <a:cubicBezTo>
                  <a:pt x="249158" y="334645"/>
                  <a:pt x="253921" y="345519"/>
                  <a:pt x="253921" y="357029"/>
                </a:cubicBezTo>
                <a:cubicBezTo>
                  <a:pt x="253921" y="382270"/>
                  <a:pt x="236776" y="405209"/>
                  <a:pt x="211534" y="406241"/>
                </a:cubicBezTo>
                <a:cubicBezTo>
                  <a:pt x="208756" y="406321"/>
                  <a:pt x="205978" y="406400"/>
                  <a:pt x="203121" y="406400"/>
                </a:cubicBezTo>
                <a:cubicBezTo>
                  <a:pt x="90884" y="406400"/>
                  <a:pt x="-79" y="315436"/>
                  <a:pt x="-79" y="203200"/>
                </a:cubicBezTo>
                <a:cubicBezTo>
                  <a:pt x="-79" y="90964"/>
                  <a:pt x="90964" y="0"/>
                  <a:pt x="203200" y="0"/>
                </a:cubicBezTo>
                <a:cubicBezTo>
                  <a:pt x="315436" y="0"/>
                  <a:pt x="406400" y="90964"/>
                  <a:pt x="406400" y="203200"/>
                </a:cubicBezTo>
                <a:close/>
                <a:moveTo>
                  <a:pt x="101600" y="228600"/>
                </a:moveTo>
                <a:cubicBezTo>
                  <a:pt x="101600" y="214581"/>
                  <a:pt x="90219" y="203200"/>
                  <a:pt x="76200" y="203200"/>
                </a:cubicBezTo>
                <a:cubicBezTo>
                  <a:pt x="62181" y="203200"/>
                  <a:pt x="50800" y="214581"/>
                  <a:pt x="50800" y="228600"/>
                </a:cubicBezTo>
                <a:cubicBezTo>
                  <a:pt x="50800" y="242619"/>
                  <a:pt x="62181" y="254000"/>
                  <a:pt x="76200" y="254000"/>
                </a:cubicBezTo>
                <a:cubicBezTo>
                  <a:pt x="90219" y="254000"/>
                  <a:pt x="101600" y="242619"/>
                  <a:pt x="101600" y="228600"/>
                </a:cubicBezTo>
                <a:close/>
                <a:moveTo>
                  <a:pt x="101600" y="152400"/>
                </a:moveTo>
                <a:cubicBezTo>
                  <a:pt x="115619" y="152400"/>
                  <a:pt x="127000" y="141019"/>
                  <a:pt x="127000" y="127000"/>
                </a:cubicBezTo>
                <a:cubicBezTo>
                  <a:pt x="127000" y="112981"/>
                  <a:pt x="115619" y="101600"/>
                  <a:pt x="101600" y="101600"/>
                </a:cubicBezTo>
                <a:cubicBezTo>
                  <a:pt x="87581" y="101600"/>
                  <a:pt x="76200" y="112981"/>
                  <a:pt x="76200" y="127000"/>
                </a:cubicBezTo>
                <a:cubicBezTo>
                  <a:pt x="76200" y="141019"/>
                  <a:pt x="87581" y="152400"/>
                  <a:pt x="101600" y="1524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304800" y="152400"/>
                </a:moveTo>
                <a:cubicBezTo>
                  <a:pt x="318819" y="152400"/>
                  <a:pt x="330200" y="141019"/>
                  <a:pt x="330200" y="127000"/>
                </a:cubicBezTo>
                <a:cubicBezTo>
                  <a:pt x="330200" y="112981"/>
                  <a:pt x="318819" y="101600"/>
                  <a:pt x="304800" y="101600"/>
                </a:cubicBezTo>
                <a:cubicBezTo>
                  <a:pt x="290781" y="101600"/>
                  <a:pt x="279400" y="112981"/>
                  <a:pt x="279400" y="127000"/>
                </a:cubicBezTo>
                <a:cubicBezTo>
                  <a:pt x="279400" y="141019"/>
                  <a:pt x="290781" y="152400"/>
                  <a:pt x="304800" y="1524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1905000" y="5359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Gold Accents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05000" y="57785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Champagne gold guides the eye to what matters most.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660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6933" y="50800"/>
                </a:moveTo>
                <a:cubicBezTo>
                  <a:pt x="16933" y="22781"/>
                  <a:pt x="47308" y="0"/>
                  <a:pt x="84667" y="0"/>
                </a:cubicBezTo>
                <a:lnTo>
                  <a:pt x="321733" y="0"/>
                </a:lnTo>
                <a:cubicBezTo>
                  <a:pt x="359093" y="0"/>
                  <a:pt x="389467" y="22781"/>
                  <a:pt x="389467" y="50800"/>
                </a:cubicBezTo>
                <a:lnTo>
                  <a:pt x="389467" y="355600"/>
                </a:lnTo>
                <a:cubicBezTo>
                  <a:pt x="389467" y="383619"/>
                  <a:pt x="359093" y="406400"/>
                  <a:pt x="321733" y="406400"/>
                </a:cubicBezTo>
                <a:lnTo>
                  <a:pt x="84667" y="406400"/>
                </a:lnTo>
                <a:cubicBezTo>
                  <a:pt x="47308" y="406400"/>
                  <a:pt x="16933" y="383619"/>
                  <a:pt x="16933" y="355600"/>
                </a:cubicBezTo>
                <a:lnTo>
                  <a:pt x="16933" y="50800"/>
                </a:lnTo>
                <a:close/>
                <a:moveTo>
                  <a:pt x="135467" y="349250"/>
                </a:moveTo>
                <a:cubicBezTo>
                  <a:pt x="135467" y="359807"/>
                  <a:pt x="146791" y="368300"/>
                  <a:pt x="160867" y="368300"/>
                </a:cubicBezTo>
                <a:lnTo>
                  <a:pt x="245533" y="368300"/>
                </a:lnTo>
                <a:cubicBezTo>
                  <a:pt x="259609" y="368300"/>
                  <a:pt x="270933" y="359807"/>
                  <a:pt x="270933" y="349250"/>
                </a:cubicBezTo>
                <a:cubicBezTo>
                  <a:pt x="270933" y="338693"/>
                  <a:pt x="259609" y="330200"/>
                  <a:pt x="245533" y="330200"/>
                </a:cubicBezTo>
                <a:lnTo>
                  <a:pt x="160867" y="330200"/>
                </a:lnTo>
                <a:cubicBezTo>
                  <a:pt x="146791" y="330200"/>
                  <a:pt x="135467" y="338693"/>
                  <a:pt x="135467" y="349250"/>
                </a:cubicBezTo>
                <a:close/>
                <a:moveTo>
                  <a:pt x="321733" y="50800"/>
                </a:moveTo>
                <a:lnTo>
                  <a:pt x="84667" y="50800"/>
                </a:lnTo>
                <a:lnTo>
                  <a:pt x="84667" y="292100"/>
                </a:lnTo>
                <a:lnTo>
                  <a:pt x="321733" y="292100"/>
                </a:lnTo>
                <a:lnTo>
                  <a:pt x="321733" y="508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1905000" y="6629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Design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05000" y="70485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interface adapts to the traveler, not the other way around.</a:t>
            </a:r>
            <a:endParaRPr lang="en-US" sz="1400" dirty="0"/>
          </a:p>
        </p:txBody>
      </p:sp>
      <p:pic>
        <p:nvPicPr>
          <p:cNvPr id="19" name="Image 0" descr="https://kimi-img.moonshot.cn/pub/slides/okc/badrb4ll2gc4a/mnt/agents/output/skyscan/images/9_6_Private_Jet_Interiors_That_Are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0" r="0" t="0" b="0"/>
          <a:stretch/>
        </p:blipFill>
        <p:spPr>
          <a:xfrm>
            <a:off x="8636000" y="2413000"/>
            <a:ext cx="6858000" cy="5715000"/>
          </a:xfrm>
          <a:prstGeom prst="roundRect">
            <a:avLst>
              <a:gd name="adj" fmla="val 6000"/>
            </a:avLst>
          </a:prstGeom>
        </p:spPr>
      </p:pic>
      <p:sp>
        <p:nvSpPr>
          <p:cNvPr id="20" name="Shape 1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8"/>
          <p:cNvSpPr/>
          <p:nvPr/>
        </p:nvSpPr>
        <p:spPr>
          <a:xfrm>
            <a:off x="12446000" y="876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Product Overview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Home Screen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413000"/>
            <a:ext cx="635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cinematic full-screen view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private jet against dramatic clouds.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search form floats in a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frosted glass card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Origin, destination, date, cabin class.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fields.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registration required. No popups. No distractions.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74000" y="1016000"/>
            <a:ext cx="7620000" cy="7112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0" dist="127000" dir="5400000">
              <a:srgbClr val="000000">
                <a:alpha val="5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74000" y="1016000"/>
            <a:ext cx="7620000" cy="508000"/>
          </a:xfrm>
          <a:prstGeom prst="roundRect">
            <a:avLst>
              <a:gd name="adj" fmla="val 6000"/>
            </a:avLst>
          </a:prstGeom>
          <a:solidFill>
            <a:srgbClr val="0D0D10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0" y="1117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5F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BD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8C8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06000" y="111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skyscan.runasp.net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0" y="1778000"/>
            <a:ext cx="7112000" cy="6096000"/>
          </a:xfrm>
          <a:prstGeom prst="roundRect">
            <a:avLst>
              <a:gd name="adj" fmla="val 4000"/>
            </a:avLst>
          </a:prstGeom>
          <a:gradFill rotWithShape="1" flip="none">
            <a:gsLst>
              <a:gs pos="0">
                <a:srgbClr val="1A1A24"/>
              </a:gs>
              <a:gs pos="100000">
                <a:srgbClr val="0F0F14"/>
              </a:gs>
            </a:gsLst>
            <a:lin ang="810000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8636000" y="2159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36000" y="2603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DESTINATION, ONE 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36000" y="3302000"/>
            <a:ext cx="6096000" cy="4064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55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FLIGHTS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4064000"/>
            <a:ext cx="5080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0" y="4127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98000" y="43942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A0A0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Origin City...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0" y="4826000"/>
            <a:ext cx="5080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8000" y="4889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98000" y="51562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A0A0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Destination City...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5588000"/>
            <a:ext cx="2413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0" y="5651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DEPARTURE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98000" y="59182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07/10/2026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811000" y="5588000"/>
            <a:ext cx="2413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65000" y="5651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CABIN CLASS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65000" y="59182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Economy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44000" y="6477000"/>
            <a:ext cx="5080000" cy="571500"/>
          </a:xfrm>
          <a:prstGeom prst="roundRect">
            <a:avLst>
              <a:gd name="adj" fmla="val 12000"/>
            </a:avLst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6477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200" kern="0" dirty="0">
                <a:solidFill>
                  <a:srgbClr val="0A0A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FLIGHTS 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12446000" y="876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Product Overview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4130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appear as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elegant flight cards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a dark canvas.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card shows airline, times, duration, stops, and price.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Fastest Route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badges highlight the best options.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4572000"/>
            <a:ext cx="14732000" cy="3683000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000" y="4826000"/>
            <a:ext cx="14224000" cy="952500"/>
          </a:xfrm>
          <a:prstGeom prst="roundRect">
            <a:avLst>
              <a:gd name="adj" fmla="val 6000"/>
            </a:avLst>
          </a:prstGeom>
          <a:solidFill>
            <a:srgbClr val="FFFFFF">
              <a:alpha val="2353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7000" y="5016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Egyptair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7000" y="53086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CAI ✈ AUH  |  4h 25m  |  Non-stop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80000" y="501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11:05 → 15:30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55000" y="50800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D4AF37">
              <a:alpha val="12549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5000" y="5080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65000" y="5016500"/>
            <a:ext cx="190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$148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16000" y="5969000"/>
            <a:ext cx="14224000" cy="952500"/>
          </a:xfrm>
          <a:prstGeom prst="roundRect">
            <a:avLst>
              <a:gd name="adj" fmla="val 6000"/>
            </a:avLst>
          </a:prstGeom>
          <a:solidFill>
            <a:srgbClr val="FFFFFF">
              <a:alpha val="2353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97000" y="6159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Egyptair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97000" y="64516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CAI ✈ AUH  |  4h 20m  |  Non-stop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80000" y="615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23:45 → 04:05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65000" y="6159500"/>
            <a:ext cx="190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$150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016000" y="7112000"/>
            <a:ext cx="14224000" cy="952500"/>
          </a:xfrm>
          <a:prstGeom prst="roundRect">
            <a:avLst>
              <a:gd name="adj" fmla="val 6000"/>
            </a:avLst>
          </a:prstGeom>
          <a:solidFill>
            <a:srgbClr val="FFFFFF">
              <a:alpha val="2353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7000" y="7302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Saudi Arabian Airlines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97000" y="75946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CAI ✈ AUH  |  9h 20m  |  1 Stop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80000" y="7302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04:45 → 14:05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65000" y="7302500"/>
            <a:ext cx="190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$152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12446000" y="876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Product Overview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7_A_spacious_sunlit_modern_airport.png">    </p:cNvPr>
          <p:cNvPicPr>
            <a:picLocks noChangeAspect="1"/>
          </p:cNvPicPr>
          <p:nvPr/>
        </p:nvPicPr>
        <p:blipFill>
          <a:blip r:embed="rId1"/>
          <a:srcRect l="0" r="0" t="31310" b="3131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FIVE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travelers, designed for clarity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Flight Search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flights across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5,000+ airports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worldwide.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origin and destination, select your date, choose cabin class.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queries multiple flight data sources for comprehensive results.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search. All options. No more tab switching.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54610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5,000+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62000" y="6413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Airports worldwide in our database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54610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&lt;3s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0" y="6413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search response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90000" y="2032000"/>
            <a:ext cx="6604000" cy="5969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84000" y="2794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825500" y="412750"/>
                </a:moveTo>
                <a:cubicBezTo>
                  <a:pt x="825500" y="503833"/>
                  <a:pt x="795933" y="587970"/>
                  <a:pt x="746125" y="656233"/>
                </a:cubicBezTo>
                <a:lnTo>
                  <a:pt x="997347" y="907653"/>
                </a:lnTo>
                <a:cubicBezTo>
                  <a:pt x="1022152" y="932458"/>
                  <a:pt x="1022152" y="972741"/>
                  <a:pt x="997347" y="997545"/>
                </a:cubicBezTo>
                <a:cubicBezTo>
                  <a:pt x="972542" y="1022350"/>
                  <a:pt x="932259" y="1022350"/>
                  <a:pt x="907455" y="997545"/>
                </a:cubicBezTo>
                <a:lnTo>
                  <a:pt x="656233" y="746125"/>
                </a:lnTo>
                <a:cubicBezTo>
                  <a:pt x="587970" y="795933"/>
                  <a:pt x="503833" y="825500"/>
                  <a:pt x="412750" y="825500"/>
                </a:cubicBezTo>
                <a:cubicBezTo>
                  <a:pt x="184745" y="825500"/>
                  <a:pt x="0" y="640755"/>
                  <a:pt x="0" y="412750"/>
                </a:cubicBezTo>
                <a:cubicBezTo>
                  <a:pt x="0" y="184745"/>
                  <a:pt x="184745" y="0"/>
                  <a:pt x="412750" y="0"/>
                </a:cubicBezTo>
                <a:cubicBezTo>
                  <a:pt x="640755" y="0"/>
                  <a:pt x="825500" y="184745"/>
                  <a:pt x="825500" y="412750"/>
                </a:cubicBezTo>
                <a:close/>
                <a:moveTo>
                  <a:pt x="412750" y="698500"/>
                </a:moveTo>
                <a:cubicBezTo>
                  <a:pt x="570460" y="698500"/>
                  <a:pt x="698500" y="570460"/>
                  <a:pt x="698500" y="412750"/>
                </a:cubicBezTo>
                <a:cubicBezTo>
                  <a:pt x="698500" y="255040"/>
                  <a:pt x="570460" y="127000"/>
                  <a:pt x="412750" y="127000"/>
                </a:cubicBezTo>
                <a:cubicBezTo>
                  <a:pt x="255040" y="127000"/>
                  <a:pt x="127000" y="255040"/>
                  <a:pt x="127000" y="412750"/>
                </a:cubicBezTo>
                <a:cubicBezTo>
                  <a:pt x="127000" y="570460"/>
                  <a:pt x="255040" y="698500"/>
                  <a:pt x="412750" y="6985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9398000" y="4191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Search. All Options.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98000" y="48260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more opening multiple tabs. No more comparing across sites. SkyScan aggregates everything in one elegant interface.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8000" y="6604000"/>
            <a:ext cx="5588000" cy="762000"/>
          </a:xfrm>
          <a:prstGeom prst="roundRect">
            <a:avLst>
              <a:gd name="adj" fmla="val 10000"/>
            </a:avLst>
          </a:prstGeom>
          <a:solidFill>
            <a:srgbClr val="D4AF37">
              <a:alpha val="823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0" y="6604000"/>
            <a:ext cx="558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FIELDS  |  1 CLICK  |  ALL RESULTS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Core Features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Flight Comparison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flights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side-by-side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clear, consistent formatting.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Price, duration, stops, airline, and times displayed uniformly.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hidden fees. No surprises.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572000"/>
          <a:ext cx="14732000" cy="3556000"/>
        </p:xfrm>
        <a:graphic>
          <a:graphicData uri="http://schemas.openxmlformats.org/drawingml/2006/table">
            <a:tbl>
              <a:tblPr/>
              <a:tblGrid>
                <a:gridCol w="2651760"/>
                <a:gridCol w="2062480"/>
                <a:gridCol w="2062480"/>
                <a:gridCol w="2062480"/>
                <a:gridCol w="2062480"/>
                <a:gridCol w="2062480"/>
                <a:gridCol w="1767840"/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Airline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Departs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Arrives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Stops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Price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Badge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Egyptair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11:05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15:30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4h 25m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Non-stop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AF3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$148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D4AF3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Fastest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Egyptair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23:45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04:05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4h 20m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Non-stop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AF3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$150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Saudi Airlines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04:45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14:05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9h 20m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 Stop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AF3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$152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Etihad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02:25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06:55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4h 30m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Non-stop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AF3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$164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7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Core Features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Redirect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travelers find their perfect flight, SkyScan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redirects them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booking provider.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not handle payments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We do not store card details.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connect travelers to the best options with a single click.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080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5080000"/>
            <a:ext cx="279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 Flight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83000" y="5461000"/>
            <a:ext cx="762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572000" y="5080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5080000"/>
            <a:ext cx="279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 Details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3000" y="5461000"/>
            <a:ext cx="762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382000" y="5080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2000" y="5080000"/>
            <a:ext cx="279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Redirect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303000" y="5461000"/>
            <a:ext cx="762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192000" y="5080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D4AF37">
              <a:alpha val="12549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92000" y="5080000"/>
            <a:ext cx="330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 on Airline Site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90000" y="2476500"/>
            <a:ext cx="6604000" cy="2032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1000" y="279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71000" y="32385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No payment processing risk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No card data stored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Book with trusted airlines directly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647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 |  Secure  |  Simple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Core Features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Drop Notifications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Travelers can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flights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receive automatic email alerts when prices drop.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your target route, and SkyScan monitors fare changes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around the clock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miss a better deal. Never overpay again.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890000" y="2032000"/>
            <a:ext cx="6604000" cy="5842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0000" y="2032000"/>
            <a:ext cx="6604000" cy="635000"/>
          </a:xfrm>
          <a:prstGeom prst="roundRect">
            <a:avLst>
              <a:gd name="adj" fmla="val 6000"/>
            </a:avLst>
          </a:prstGeom>
          <a:solidFill>
            <a:srgbClr val="0D0D10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165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From: SkyScan Alerts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71000" y="1968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A0A0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Subject: Price Drop Alert - Cairo to London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71000" y="2921000"/>
            <a:ext cx="5842000" cy="457200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0" y="266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52000" y="317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Drop Alert!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52000" y="3683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A0A0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Cairo (CAI) to London (LHR)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52000" y="419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strike="sngStrike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Was $485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0" y="46355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Now $410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652000" y="546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ADE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▼ Save $75 (15%)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52000" y="6096000"/>
            <a:ext cx="2540000" cy="571500"/>
          </a:xfrm>
          <a:prstGeom prst="roundRect">
            <a:avLst>
              <a:gd name="adj" fmla="val 12000"/>
            </a:avLst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9652000" y="6096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0A0A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FLIGHT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Core Features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 Reminder Emails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reminder emails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sent before departure.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Flight details, departure time, and airport info delivered to your inbox.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more forgotten flights.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more missed departures.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remembers so you do not have to worry.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461000"/>
            <a:ext cx="4445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84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25" y="63500"/>
                </a:moveTo>
                <a:cubicBezTo>
                  <a:pt x="21332" y="63500"/>
                  <a:pt x="0" y="84832"/>
                  <a:pt x="0" y="111125"/>
                </a:cubicBezTo>
                <a:cubicBezTo>
                  <a:pt x="0" y="126107"/>
                  <a:pt x="7045" y="140196"/>
                  <a:pt x="19050" y="149225"/>
                </a:cubicBezTo>
                <a:lnTo>
                  <a:pt x="225425" y="304006"/>
                </a:lnTo>
                <a:cubicBezTo>
                  <a:pt x="242391" y="316706"/>
                  <a:pt x="265609" y="316706"/>
                  <a:pt x="282575" y="304006"/>
                </a:cubicBezTo>
                <a:lnTo>
                  <a:pt x="488950" y="149225"/>
                </a:lnTo>
                <a:cubicBezTo>
                  <a:pt x="500955" y="140196"/>
                  <a:pt x="508000" y="126107"/>
                  <a:pt x="508000" y="111125"/>
                </a:cubicBezTo>
                <a:cubicBezTo>
                  <a:pt x="508000" y="84832"/>
                  <a:pt x="486668" y="63500"/>
                  <a:pt x="460375" y="63500"/>
                </a:cubicBezTo>
                <a:lnTo>
                  <a:pt x="47625" y="63500"/>
                </a:lnTo>
                <a:close/>
                <a:moveTo>
                  <a:pt x="0" y="194469"/>
                </a:move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194469"/>
                </a:lnTo>
                <a:lnTo>
                  <a:pt x="311150" y="342106"/>
                </a:lnTo>
                <a:cubicBezTo>
                  <a:pt x="277316" y="367506"/>
                  <a:pt x="230684" y="367506"/>
                  <a:pt x="196850" y="342106"/>
                </a:cubicBezTo>
                <a:lnTo>
                  <a:pt x="0" y="194469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647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 Hours Before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69215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reminder with full flight details and check-in link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8000" y="5461000"/>
            <a:ext cx="4445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9000" y="584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33929" y="0"/>
                  <a:pt x="217714" y="14188"/>
                  <a:pt x="217714" y="31750"/>
                </a:cubicBezTo>
                <a:lnTo>
                  <a:pt x="217714" y="34925"/>
                </a:lnTo>
                <a:cubicBezTo>
                  <a:pt x="134938" y="49609"/>
                  <a:pt x="72571" y="113705"/>
                  <a:pt x="72571" y="190500"/>
                </a:cubicBezTo>
                <a:lnTo>
                  <a:pt x="72571" y="212030"/>
                </a:lnTo>
                <a:cubicBezTo>
                  <a:pt x="72571" y="259755"/>
                  <a:pt x="53975" y="306090"/>
                  <a:pt x="19957" y="343396"/>
                </a:cubicBezTo>
                <a:lnTo>
                  <a:pt x="8845" y="355501"/>
                </a:lnTo>
                <a:cubicBezTo>
                  <a:pt x="3062" y="361752"/>
                  <a:pt x="0" y="369491"/>
                  <a:pt x="0" y="377527"/>
                </a:cubicBezTo>
                <a:cubicBezTo>
                  <a:pt x="0" y="396974"/>
                  <a:pt x="18029" y="412750"/>
                  <a:pt x="40254" y="412750"/>
                </a:cubicBezTo>
                <a:lnTo>
                  <a:pt x="467632" y="412750"/>
                </a:lnTo>
                <a:cubicBezTo>
                  <a:pt x="489857" y="412750"/>
                  <a:pt x="507887" y="396974"/>
                  <a:pt x="507887" y="377527"/>
                </a:cubicBezTo>
                <a:cubicBezTo>
                  <a:pt x="507887" y="369491"/>
                  <a:pt x="504825" y="361752"/>
                  <a:pt x="499042" y="355501"/>
                </a:cubicBezTo>
                <a:lnTo>
                  <a:pt x="487929" y="343396"/>
                </a:lnTo>
                <a:cubicBezTo>
                  <a:pt x="454025" y="306090"/>
                  <a:pt x="435429" y="259755"/>
                  <a:pt x="435429" y="212030"/>
                </a:cubicBezTo>
                <a:lnTo>
                  <a:pt x="435429" y="190500"/>
                </a:lnTo>
                <a:cubicBezTo>
                  <a:pt x="435429" y="113705"/>
                  <a:pt x="373063" y="49609"/>
                  <a:pt x="290286" y="34925"/>
                </a:cubicBezTo>
                <a:lnTo>
                  <a:pt x="290286" y="31750"/>
                </a:lnTo>
                <a:cubicBezTo>
                  <a:pt x="290286" y="14188"/>
                  <a:pt x="274071" y="0"/>
                  <a:pt x="254000" y="0"/>
                </a:cubicBezTo>
                <a:close/>
                <a:moveTo>
                  <a:pt x="183696" y="460375"/>
                </a:moveTo>
                <a:cubicBezTo>
                  <a:pt x="191747" y="487759"/>
                  <a:pt x="220209" y="508000"/>
                  <a:pt x="254000" y="508000"/>
                </a:cubicBezTo>
                <a:cubicBezTo>
                  <a:pt x="287791" y="508000"/>
                  <a:pt x="316253" y="487759"/>
                  <a:pt x="324304" y="460375"/>
                </a:cubicBezTo>
                <a:lnTo>
                  <a:pt x="183696" y="46037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647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Hours Before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69000" y="69215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reminder with gate info and departure countdown</a:t>
            </a:r>
            <a:endParaRPr lang="en-US" sz="1600" dirty="0"/>
          </a:p>
        </p:txBody>
      </p:sp>
      <p:pic>
        <p:nvPicPr>
          <p:cNvPr id="16" name="Image 0" descr="https://kimi-img.moonshot.cn/pub/slides/okc/badrb4ll2gc4a/mnt/agents/output/skyscan/images/8_A_sunset_view_from_a_plane_focusing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10668000" y="2032000"/>
            <a:ext cx="4826000" cy="5969000"/>
          </a:xfrm>
          <a:prstGeom prst="roundRect">
            <a:avLst>
              <a:gd name="adj" fmla="val 6000"/>
            </a:avLst>
          </a:prstGeom>
        </p:spPr>
      </p:pic>
      <p:sp>
        <p:nvSpPr>
          <p:cNvPr id="17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5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Core Features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1_Airplane_Wing_Above_Clouds_at_Sunset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SIX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walkthrough of the SkyScan platform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29000" y="127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635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traveler arrives at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skyscan.runasp.net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cinematic hero section with a private jet against the clouds.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enter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Cairo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origin,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Abu Dhabi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destination.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July 10, 2026, Economy class.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tap on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"Search Flights"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74000" y="1016000"/>
            <a:ext cx="7620000" cy="7112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0" dist="127000" dir="5400000">
              <a:srgbClr val="000000">
                <a:alpha val="5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74000" y="1016000"/>
            <a:ext cx="7620000" cy="508000"/>
          </a:xfrm>
          <a:prstGeom prst="roundRect">
            <a:avLst>
              <a:gd name="adj" fmla="val 6000"/>
            </a:avLst>
          </a:prstGeom>
          <a:solidFill>
            <a:srgbClr val="0D0D10"/>
          </a:solidFill>
          <a:ln/>
        </p:spPr>
      </p:sp>
      <p:sp>
        <p:nvSpPr>
          <p:cNvPr id="10" name="Text 8"/>
          <p:cNvSpPr/>
          <p:nvPr/>
        </p:nvSpPr>
        <p:spPr>
          <a:xfrm>
            <a:off x="8128000" y="1117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5F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BD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8C8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0" y="1778000"/>
            <a:ext cx="7112000" cy="6096000"/>
          </a:xfrm>
          <a:prstGeom prst="roundRect">
            <a:avLst>
              <a:gd name="adj" fmla="val 4000"/>
            </a:avLst>
          </a:prstGeom>
          <a:gradFill rotWithShape="1" flip="none">
            <a:gsLst>
              <a:gs pos="0">
                <a:srgbClr val="1A1A24"/>
              </a:gs>
              <a:gs pos="100000">
                <a:srgbClr val="0F0F14"/>
              </a:gs>
            </a:gsLst>
            <a:lin ang="810000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8636000" y="2159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36000" y="26035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DESTINATION, ONE 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36000" y="3302000"/>
            <a:ext cx="6096000" cy="4064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55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FLIGHTS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4064000"/>
            <a:ext cx="5080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0" y="4127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98000" y="43942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Cairo, Egypt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0" y="4826000"/>
            <a:ext cx="5080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8000" y="4889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98000" y="51562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Abu Dhabi, UAE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5588000"/>
            <a:ext cx="2413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0" y="5651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DEPARTURE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98000" y="59182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July 2026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811000" y="5588000"/>
            <a:ext cx="2413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65000" y="5651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CABIN CLASS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65000" y="59182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Economy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44000" y="6477000"/>
            <a:ext cx="5080000" cy="571500"/>
          </a:xfrm>
          <a:prstGeom prst="roundRect">
            <a:avLst>
              <a:gd name="adj" fmla="val 12000"/>
            </a:avLst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6477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200" kern="0" dirty="0">
                <a:solidFill>
                  <a:srgbClr val="0A0A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FLIGHTS 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13208000" y="8763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Live Demo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29000" y="127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 Results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flight options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appear, sorted by relevance.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option: Egyptair, 11:05-15:30, non-stop,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$148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"Fastest Route" badge highlights the best.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Filters refine by stops, airlines, or price.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74000" y="1016000"/>
            <a:ext cx="7620000" cy="7112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4000" y="1016000"/>
            <a:ext cx="7620000" cy="508000"/>
          </a:xfrm>
          <a:prstGeom prst="roundRect">
            <a:avLst>
              <a:gd name="adj" fmla="val 6000"/>
            </a:avLst>
          </a:prstGeom>
          <a:solidFill>
            <a:srgbClr val="0D0D10"/>
          </a:solidFill>
          <a:ln/>
        </p:spPr>
      </p:sp>
      <p:sp>
        <p:nvSpPr>
          <p:cNvPr id="10" name="Text 8"/>
          <p:cNvSpPr/>
          <p:nvPr/>
        </p:nvSpPr>
        <p:spPr>
          <a:xfrm>
            <a:off x="8128000" y="1117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5F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BD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8C8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82000" y="1778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Cairo to Abu Dhabi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82000" y="2184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July, 2026  |  10 Results Found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82000" y="2667000"/>
            <a:ext cx="6604000" cy="1270000"/>
          </a:xfrm>
          <a:prstGeom prst="roundRect">
            <a:avLst>
              <a:gd name="adj" fmla="val 6000"/>
            </a:avLst>
          </a:prstGeom>
          <a:solidFill>
            <a:srgbClr val="FFFFFF">
              <a:alpha val="2353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28194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Egyptair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99500" y="30734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4h 25m  |  Non-stop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938000" y="2921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11:05 → 15:30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99500" y="3530600"/>
            <a:ext cx="1270000" cy="279400"/>
          </a:xfrm>
          <a:prstGeom prst="roundRect">
            <a:avLst>
              <a:gd name="adj" fmla="val 14000"/>
            </a:avLst>
          </a:prstGeom>
          <a:solidFill>
            <a:srgbClr val="D4AF37">
              <a:alpha val="12549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9500" y="35306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335000" y="29210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3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$148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8382000" y="4127500"/>
            <a:ext cx="6604000" cy="1270000"/>
          </a:xfrm>
          <a:prstGeom prst="roundRect">
            <a:avLst>
              <a:gd name="adj" fmla="val 6000"/>
            </a:avLst>
          </a:prstGeom>
          <a:solidFill>
            <a:srgbClr val="FFFFFF">
              <a:alpha val="2353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99500" y="42799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Egyptair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99500" y="45339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4h 20m  |  Non-stop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938000" y="4381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23:45 → 04:05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335000" y="43815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3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$150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8382000" y="5588000"/>
            <a:ext cx="6604000" cy="1270000"/>
          </a:xfrm>
          <a:prstGeom prst="roundRect">
            <a:avLst>
              <a:gd name="adj" fmla="val 6000"/>
            </a:avLst>
          </a:prstGeom>
          <a:solidFill>
            <a:srgbClr val="FFFFFF">
              <a:alpha val="2353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99500" y="5740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Saudi Arabian Airlines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99500" y="59944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6B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9h 20m  |  1 Stop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938000" y="5842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04:45 → 14:05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335000" y="58420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3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$152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13208000" y="8763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Live Demo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29000" y="127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&amp; Redirect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"Flight Details"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the preferred option.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flight info appears including airport codes and terminals.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clear CTA redirects to the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provider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booking completes on the airline's trusted platform.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080000"/>
            <a:ext cx="3048000" cy="889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5080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Details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7000" y="5461000"/>
            <a:ext cx="635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99000" y="5080000"/>
            <a:ext cx="3048000" cy="889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9000" y="5080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Flight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74000" y="5461000"/>
            <a:ext cx="635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636000" y="5080000"/>
            <a:ext cx="3048000" cy="889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6000" y="5080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 to Book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11000" y="5461000"/>
            <a:ext cx="635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573000" y="5080000"/>
            <a:ext cx="2921000" cy="889000"/>
          </a:xfrm>
          <a:prstGeom prst="roundRect">
            <a:avLst>
              <a:gd name="adj" fmla="val 10000"/>
            </a:avLst>
          </a:prstGeom>
          <a:solidFill>
            <a:srgbClr val="D4AF37">
              <a:alpha val="12549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73000" y="50800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 on Airline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47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never touches the payment. Zero financial risk.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13208000" y="8763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Live Demo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29000" y="127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Stay Informed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searching, travelers set up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drop alerts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their route.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monitors fares and sends an email when prices decrease.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departure approaches,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reminders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 travelers have all details.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9530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33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2246" y="95250"/>
                </a:moveTo>
                <a:lnTo>
                  <a:pt x="32246" y="243582"/>
                </a:lnTo>
                <a:cubicBezTo>
                  <a:pt x="32246" y="260449"/>
                  <a:pt x="38894" y="276622"/>
                  <a:pt x="50800" y="288528"/>
                </a:cubicBezTo>
                <a:lnTo>
                  <a:pt x="241300" y="479028"/>
                </a:lnTo>
                <a:cubicBezTo>
                  <a:pt x="266105" y="503833"/>
                  <a:pt x="306288" y="503833"/>
                  <a:pt x="331093" y="479028"/>
                </a:cubicBezTo>
                <a:lnTo>
                  <a:pt x="479425" y="330696"/>
                </a:lnTo>
                <a:cubicBezTo>
                  <a:pt x="504230" y="305891"/>
                  <a:pt x="504230" y="265708"/>
                  <a:pt x="479425" y="240903"/>
                </a:cubicBezTo>
                <a:lnTo>
                  <a:pt x="288925" y="50403"/>
                </a:lnTo>
                <a:cubicBezTo>
                  <a:pt x="277019" y="38398"/>
                  <a:pt x="260945" y="31750"/>
                  <a:pt x="244078" y="31750"/>
                </a:cubicBezTo>
                <a:lnTo>
                  <a:pt x="95746" y="31750"/>
                </a:lnTo>
                <a:cubicBezTo>
                  <a:pt x="60722" y="31750"/>
                  <a:pt x="32246" y="60226"/>
                  <a:pt x="32246" y="95250"/>
                </a:cubicBezTo>
                <a:close/>
                <a:moveTo>
                  <a:pt x="143371" y="111125"/>
                </a:moveTo>
                <a:cubicBezTo>
                  <a:pt x="160894" y="111125"/>
                  <a:pt x="175121" y="125352"/>
                  <a:pt x="175121" y="142875"/>
                </a:cubicBezTo>
                <a:cubicBezTo>
                  <a:pt x="175121" y="160398"/>
                  <a:pt x="160894" y="174625"/>
                  <a:pt x="143371" y="174625"/>
                </a:cubicBezTo>
                <a:cubicBezTo>
                  <a:pt x="125848" y="174625"/>
                  <a:pt x="111621" y="160398"/>
                  <a:pt x="111621" y="142875"/>
                </a:cubicBezTo>
                <a:cubicBezTo>
                  <a:pt x="111621" y="125352"/>
                  <a:pt x="125848" y="111125"/>
                  <a:pt x="143371" y="11112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905000" y="527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Drop Alerts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05000" y="56896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email when fares decrease on tracked routes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7310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3075" y="-26095"/>
                </a:moveTo>
                <a:cubicBezTo>
                  <a:pt x="481718" y="-29567"/>
                  <a:pt x="491243" y="-27087"/>
                  <a:pt x="497769" y="-19844"/>
                </a:cubicBezTo>
                <a:cubicBezTo>
                  <a:pt x="504296" y="-12601"/>
                  <a:pt x="506413" y="-1786"/>
                  <a:pt x="503326" y="7938"/>
                </a:cubicBezTo>
                <a:lnTo>
                  <a:pt x="346340" y="500955"/>
                </a:lnTo>
                <a:cubicBezTo>
                  <a:pt x="341930" y="514747"/>
                  <a:pt x="330376" y="523875"/>
                  <a:pt x="317412" y="523875"/>
                </a:cubicBezTo>
                <a:cubicBezTo>
                  <a:pt x="304888" y="523875"/>
                  <a:pt x="293599" y="515342"/>
                  <a:pt x="288925" y="502345"/>
                </a:cubicBezTo>
                <a:lnTo>
                  <a:pt x="232304" y="345579"/>
                </a:lnTo>
                <a:cubicBezTo>
                  <a:pt x="228335" y="334665"/>
                  <a:pt x="230099" y="322163"/>
                  <a:pt x="236890" y="313234"/>
                </a:cubicBezTo>
                <a:lnTo>
                  <a:pt x="320234" y="201712"/>
                </a:lnTo>
                <a:cubicBezTo>
                  <a:pt x="324732" y="195659"/>
                  <a:pt x="324379" y="186829"/>
                  <a:pt x="319440" y="181273"/>
                </a:cubicBezTo>
                <a:cubicBezTo>
                  <a:pt x="314501" y="175716"/>
                  <a:pt x="306564" y="175320"/>
                  <a:pt x="301272" y="180380"/>
                </a:cubicBezTo>
                <a:lnTo>
                  <a:pt x="202142" y="273943"/>
                </a:lnTo>
                <a:cubicBezTo>
                  <a:pt x="194116" y="281484"/>
                  <a:pt x="183092" y="283468"/>
                  <a:pt x="173390" y="279102"/>
                </a:cubicBezTo>
                <a:lnTo>
                  <a:pt x="33602" y="215106"/>
                </a:lnTo>
                <a:cubicBezTo>
                  <a:pt x="22049" y="209848"/>
                  <a:pt x="14464" y="197148"/>
                  <a:pt x="14464" y="183059"/>
                </a:cubicBezTo>
                <a:cubicBezTo>
                  <a:pt x="14464" y="168473"/>
                  <a:pt x="22578" y="155476"/>
                  <a:pt x="34837" y="150515"/>
                </a:cubicBezTo>
                <a:lnTo>
                  <a:pt x="473075" y="-2609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1905000" y="704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 Reminders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05000" y="74676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Pre-departure emails with flight details and updates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4953000"/>
            <a:ext cx="7112000" cy="3302000"/>
          </a:xfrm>
          <a:prstGeom prst="roundRect">
            <a:avLst>
              <a:gd name="adj" fmla="val 6000"/>
            </a:avLst>
          </a:prstGeom>
          <a:solidFill>
            <a:srgbClr val="D4AF37">
              <a:alpha val="627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0000" y="53340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Search to Departure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90000" y="5969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stays with the traveler</a:t>
            </a:r>
            <a:endParaRPr lang="en-US" sz="1800" dirty="0"/>
          </a:p>
          <a:p>
            <a:pPr algn="ctr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step of the journey.</a:t>
            </a:r>
            <a:endParaRPr lang="en-US" sz="1800" dirty="0"/>
          </a:p>
          <a:p>
            <a:pPr algn="ctr"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 →  Compare  →  Track  →  Remind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3208000" y="8763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Live Demo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3_Elegant_Abstract_World_Map_Featuring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SEVEN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SkyScan generates revenue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Affiliate Partnerships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62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earns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referral commissions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travelers book through partner links.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Airlines and OTAs pay a percentage of each completed booking.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the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revenue stream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cost to travelers. No hidden fees.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334000"/>
            <a:ext cx="7366000" cy="2794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565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60960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Traveler searches on SkyScan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Clicks through to airline/OTA website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Completes booking on partner site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SkyScan receives referral commission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90000" y="2476500"/>
            <a:ext cx="6604000" cy="56515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840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474310" y="169069"/>
                </a:moveTo>
                <a:lnTo>
                  <a:pt x="268640" y="426244"/>
                </a:lnTo>
                <a:cubicBezTo>
                  <a:pt x="260526" y="436364"/>
                  <a:pt x="260879" y="452041"/>
                  <a:pt x="269522" y="461764"/>
                </a:cubicBezTo>
                <a:cubicBezTo>
                  <a:pt x="323321" y="522288"/>
                  <a:pt x="410633" y="522288"/>
                  <a:pt x="464432" y="461764"/>
                </a:cubicBezTo>
                <a:lnTo>
                  <a:pt x="520524" y="398661"/>
                </a:lnTo>
                <a:cubicBezTo>
                  <a:pt x="527932" y="390327"/>
                  <a:pt x="537281" y="385763"/>
                  <a:pt x="546806" y="384969"/>
                </a:cubicBezTo>
                <a:cubicBezTo>
                  <a:pt x="558800" y="383778"/>
                  <a:pt x="571147" y="388342"/>
                  <a:pt x="580319" y="398661"/>
                </a:cubicBezTo>
                <a:lnTo>
                  <a:pt x="891822" y="746125"/>
                </a:lnTo>
                <a:lnTo>
                  <a:pt x="1016000" y="635000"/>
                </a:lnTo>
                <a:lnTo>
                  <a:pt x="1016000" y="63500"/>
                </a:lnTo>
                <a:lnTo>
                  <a:pt x="818444" y="190500"/>
                </a:lnTo>
                <a:lnTo>
                  <a:pt x="776464" y="158948"/>
                </a:lnTo>
                <a:cubicBezTo>
                  <a:pt x="748594" y="138113"/>
                  <a:pt x="715963" y="127000"/>
                  <a:pt x="682449" y="127000"/>
                </a:cubicBezTo>
                <a:lnTo>
                  <a:pt x="558271" y="127000"/>
                </a:lnTo>
                <a:cubicBezTo>
                  <a:pt x="556331" y="127000"/>
                  <a:pt x="554214" y="127000"/>
                  <a:pt x="552274" y="127198"/>
                </a:cubicBezTo>
                <a:cubicBezTo>
                  <a:pt x="522464" y="128984"/>
                  <a:pt x="494418" y="144066"/>
                  <a:pt x="474310" y="169069"/>
                </a:cubicBezTo>
                <a:close/>
                <a:moveTo>
                  <a:pt x="205669" y="362545"/>
                </a:moveTo>
                <a:lnTo>
                  <a:pt x="394053" y="127000"/>
                </a:lnTo>
                <a:lnTo>
                  <a:pt x="324203" y="127000"/>
                </a:lnTo>
                <a:cubicBezTo>
                  <a:pt x="279224" y="127000"/>
                  <a:pt x="236185" y="147042"/>
                  <a:pt x="204435" y="182761"/>
                </a:cubicBezTo>
                <a:lnTo>
                  <a:pt x="197556" y="190500"/>
                </a:lnTo>
                <a:lnTo>
                  <a:pt x="0" y="63500"/>
                </a:lnTo>
                <a:lnTo>
                  <a:pt x="0" y="635000"/>
                </a:lnTo>
                <a:lnTo>
                  <a:pt x="275872" y="893564"/>
                </a:lnTo>
                <a:cubicBezTo>
                  <a:pt x="316442" y="931664"/>
                  <a:pt x="367594" y="952500"/>
                  <a:pt x="420335" y="952500"/>
                </a:cubicBezTo>
                <a:lnTo>
                  <a:pt x="448028" y="952500"/>
                </a:lnTo>
                <a:lnTo>
                  <a:pt x="435681" y="938609"/>
                </a:lnTo>
                <a:cubicBezTo>
                  <a:pt x="419100" y="919956"/>
                  <a:pt x="419100" y="889794"/>
                  <a:pt x="435681" y="871339"/>
                </a:cubicBezTo>
                <a:cubicBezTo>
                  <a:pt x="452261" y="852884"/>
                  <a:pt x="479072" y="852686"/>
                  <a:pt x="495476" y="871339"/>
                </a:cubicBezTo>
                <a:lnTo>
                  <a:pt x="567796" y="952698"/>
                </a:lnTo>
                <a:lnTo>
                  <a:pt x="583671" y="952698"/>
                </a:lnTo>
                <a:cubicBezTo>
                  <a:pt x="617361" y="952698"/>
                  <a:pt x="650346" y="944166"/>
                  <a:pt x="680332" y="928291"/>
                </a:cubicBezTo>
                <a:lnTo>
                  <a:pt x="633236" y="875109"/>
                </a:lnTo>
                <a:cubicBezTo>
                  <a:pt x="616656" y="856456"/>
                  <a:pt x="616656" y="826294"/>
                  <a:pt x="633236" y="807839"/>
                </a:cubicBezTo>
                <a:cubicBezTo>
                  <a:pt x="649817" y="789384"/>
                  <a:pt x="676628" y="789186"/>
                  <a:pt x="693032" y="807839"/>
                </a:cubicBezTo>
                <a:lnTo>
                  <a:pt x="749476" y="871339"/>
                </a:lnTo>
                <a:lnTo>
                  <a:pt x="780344" y="836613"/>
                </a:lnTo>
                <a:cubicBezTo>
                  <a:pt x="796043" y="818952"/>
                  <a:pt x="800629" y="793353"/>
                  <a:pt x="793750" y="770930"/>
                </a:cubicBezTo>
                <a:lnTo>
                  <a:pt x="550510" y="499467"/>
                </a:lnTo>
                <a:lnTo>
                  <a:pt x="524228" y="529034"/>
                </a:lnTo>
                <a:cubicBezTo>
                  <a:pt x="437268" y="626864"/>
                  <a:pt x="296510" y="626864"/>
                  <a:pt x="209550" y="529034"/>
                </a:cubicBezTo>
                <a:cubicBezTo>
                  <a:pt x="168981" y="483394"/>
                  <a:pt x="167393" y="410170"/>
                  <a:pt x="205669" y="362347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0" y="4699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Win-Win-Win Model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398000" y="53340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Travelers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 the best flights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Partners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gain qualified bookings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earns commissions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98000" y="7112000"/>
            <a:ext cx="5588000" cy="635000"/>
          </a:xfrm>
          <a:prstGeom prst="roundRect">
            <a:avLst>
              <a:gd name="adj" fmla="val 10000"/>
            </a:avLst>
          </a:prstGeom>
          <a:solidFill>
            <a:srgbClr val="D4AF37">
              <a:alpha val="823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8000" y="7112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FROM PARTNERS, NOT USERS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2446000" y="876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Business Model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Referral Commissions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redirect to a booking provider is tracked through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affiliate partnerships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 traveler completes a booking, SkyScan receives a commission.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445000"/>
            <a:ext cx="355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1-3%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62000" y="5397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Commission rate per booking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6000" y="4445000"/>
            <a:ext cx="355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$400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826000" y="5397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flight booking value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6350000"/>
            <a:ext cx="355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$4-12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762000" y="7302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per successful referral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2476500"/>
            <a:ext cx="6350000" cy="56515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0" y="2921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Commission Structure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525000" y="3556000"/>
            <a:ext cx="5588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Economy Class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$4-6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booking</a:t>
            </a:r>
            <a:endParaRPr lang="en-US" sz="16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Economy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$6-8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booking</a:t>
            </a:r>
            <a:endParaRPr lang="en-US" sz="16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Class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$10-20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booking</a:t>
            </a:r>
            <a:endParaRPr lang="en-US" sz="16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Class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$20-50+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booking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2446000" y="876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Business Model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Travel Partner Integrations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partnerships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 insurance providers, lounge access services, and baggage protection companies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SkyScan can offer travelers additional services at the point of search. Each integration creates a new revenue stream while adding value.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937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431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-31750"/>
                </a:moveTo>
                <a:cubicBezTo>
                  <a:pt x="271562" y="-31750"/>
                  <a:pt x="285750" y="-17562"/>
                  <a:pt x="285750" y="0"/>
                </a:cubicBezTo>
                <a:lnTo>
                  <a:pt x="285750" y="1984"/>
                </a:lnTo>
                <a:cubicBezTo>
                  <a:pt x="411063" y="17562"/>
                  <a:pt x="508000" y="124520"/>
                  <a:pt x="508000" y="254000"/>
                </a:cubicBezTo>
                <a:cubicBezTo>
                  <a:pt x="508000" y="257770"/>
                  <a:pt x="507901" y="261441"/>
                  <a:pt x="507802" y="265212"/>
                </a:cubicBezTo>
                <a:cubicBezTo>
                  <a:pt x="507504" y="272058"/>
                  <a:pt x="502841" y="277912"/>
                  <a:pt x="496193" y="279797"/>
                </a:cubicBezTo>
                <a:cubicBezTo>
                  <a:pt x="489545" y="281682"/>
                  <a:pt x="482501" y="279102"/>
                  <a:pt x="478730" y="273348"/>
                </a:cubicBezTo>
                <a:cubicBezTo>
                  <a:pt x="464443" y="252115"/>
                  <a:pt x="440234" y="238125"/>
                  <a:pt x="412750" y="238125"/>
                </a:cubicBezTo>
                <a:cubicBezTo>
                  <a:pt x="383679" y="238125"/>
                  <a:pt x="358279" y="253702"/>
                  <a:pt x="344388" y="277118"/>
                </a:cubicBezTo>
                <a:cubicBezTo>
                  <a:pt x="341709" y="281682"/>
                  <a:pt x="336848" y="284659"/>
                  <a:pt x="331490" y="284857"/>
                </a:cubicBezTo>
                <a:cubicBezTo>
                  <a:pt x="326132" y="285055"/>
                  <a:pt x="321072" y="282674"/>
                  <a:pt x="317897" y="278408"/>
                </a:cubicBezTo>
                <a:cubicBezTo>
                  <a:pt x="303411" y="258763"/>
                  <a:pt x="280194" y="246063"/>
                  <a:pt x="253901" y="246063"/>
                </a:cubicBezTo>
                <a:cubicBezTo>
                  <a:pt x="227608" y="246063"/>
                  <a:pt x="204391" y="258763"/>
                  <a:pt x="189905" y="278408"/>
                </a:cubicBezTo>
                <a:cubicBezTo>
                  <a:pt x="186730" y="282674"/>
                  <a:pt x="181670" y="285155"/>
                  <a:pt x="176312" y="284857"/>
                </a:cubicBezTo>
                <a:cubicBezTo>
                  <a:pt x="170954" y="284559"/>
                  <a:pt x="166191" y="281682"/>
                  <a:pt x="163413" y="277118"/>
                </a:cubicBezTo>
                <a:cubicBezTo>
                  <a:pt x="149523" y="253702"/>
                  <a:pt x="124123" y="238125"/>
                  <a:pt x="95052" y="238125"/>
                </a:cubicBezTo>
                <a:cubicBezTo>
                  <a:pt x="67568" y="238125"/>
                  <a:pt x="43359" y="252115"/>
                  <a:pt x="29071" y="273348"/>
                </a:cubicBezTo>
                <a:cubicBezTo>
                  <a:pt x="25202" y="279003"/>
                  <a:pt x="18157" y="281682"/>
                  <a:pt x="11609" y="279797"/>
                </a:cubicBezTo>
                <a:cubicBezTo>
                  <a:pt x="5060" y="277912"/>
                  <a:pt x="496" y="272058"/>
                  <a:pt x="198" y="265212"/>
                </a:cubicBezTo>
                <a:cubicBezTo>
                  <a:pt x="99" y="261441"/>
                  <a:pt x="0" y="257770"/>
                  <a:pt x="0" y="254000"/>
                </a:cubicBezTo>
                <a:cubicBezTo>
                  <a:pt x="0" y="124520"/>
                  <a:pt x="96937" y="17562"/>
                  <a:pt x="222250" y="1984"/>
                </a:cubicBezTo>
                <a:lnTo>
                  <a:pt x="222250" y="0"/>
                </a:lnTo>
                <a:cubicBezTo>
                  <a:pt x="222250" y="-17562"/>
                  <a:pt x="236438" y="-31750"/>
                  <a:pt x="254000" y="-31750"/>
                </a:cubicBezTo>
                <a:close/>
                <a:moveTo>
                  <a:pt x="285750" y="325438"/>
                </a:moveTo>
                <a:lnTo>
                  <a:pt x="285750" y="427236"/>
                </a:lnTo>
                <a:cubicBezTo>
                  <a:pt x="285750" y="471884"/>
                  <a:pt x="249535" y="508000"/>
                  <a:pt x="204986" y="508000"/>
                </a:cubicBezTo>
                <a:cubicBezTo>
                  <a:pt x="174427" y="508000"/>
                  <a:pt x="146447" y="490736"/>
                  <a:pt x="132755" y="463352"/>
                </a:cubicBezTo>
                <a:lnTo>
                  <a:pt x="130473" y="458688"/>
                </a:lnTo>
                <a:cubicBezTo>
                  <a:pt x="122634" y="443012"/>
                  <a:pt x="128984" y="423962"/>
                  <a:pt x="144661" y="416123"/>
                </a:cubicBezTo>
                <a:cubicBezTo>
                  <a:pt x="160338" y="408285"/>
                  <a:pt x="179388" y="414635"/>
                  <a:pt x="187226" y="430312"/>
                </a:cubicBezTo>
                <a:lnTo>
                  <a:pt x="189508" y="434975"/>
                </a:lnTo>
                <a:cubicBezTo>
                  <a:pt x="192484" y="440829"/>
                  <a:pt x="198438" y="444500"/>
                  <a:pt x="204986" y="444500"/>
                </a:cubicBezTo>
                <a:cubicBezTo>
                  <a:pt x="214511" y="444500"/>
                  <a:pt x="222250" y="436761"/>
                  <a:pt x="222250" y="427236"/>
                </a:cubicBezTo>
                <a:lnTo>
                  <a:pt x="222250" y="325438"/>
                </a:lnTo>
                <a:cubicBezTo>
                  <a:pt x="222250" y="307876"/>
                  <a:pt x="236438" y="293688"/>
                  <a:pt x="254000" y="293688"/>
                </a:cubicBezTo>
                <a:cubicBezTo>
                  <a:pt x="271562" y="293688"/>
                  <a:pt x="285750" y="307876"/>
                  <a:pt x="285750" y="32543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01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Travel Insurance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54610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integrations at point of search. Commission per policy sold.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42000" y="3937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3000" y="431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4300" y="269875"/>
                </a:moveTo>
                <a:cubicBezTo>
                  <a:pt x="114300" y="222945"/>
                  <a:pt x="87154" y="183952"/>
                  <a:pt x="51435" y="176113"/>
                </a:cubicBezTo>
                <a:cubicBezTo>
                  <a:pt x="57150" y="112713"/>
                  <a:pt x="100171" y="63500"/>
                  <a:pt x="152400" y="63500"/>
                </a:cubicBezTo>
                <a:lnTo>
                  <a:pt x="355600" y="63500"/>
                </a:lnTo>
                <a:cubicBezTo>
                  <a:pt x="407829" y="63500"/>
                  <a:pt x="450850" y="112713"/>
                  <a:pt x="456565" y="176113"/>
                </a:cubicBezTo>
                <a:cubicBezTo>
                  <a:pt x="420846" y="184051"/>
                  <a:pt x="393700" y="222945"/>
                  <a:pt x="393700" y="269875"/>
                </a:cubicBezTo>
                <a:lnTo>
                  <a:pt x="393700" y="301625"/>
                </a:lnTo>
                <a:lnTo>
                  <a:pt x="114300" y="301625"/>
                </a:lnTo>
                <a:lnTo>
                  <a:pt x="114300" y="269875"/>
                </a:lnTo>
                <a:close/>
                <a:moveTo>
                  <a:pt x="0" y="381000"/>
                </a:moveTo>
                <a:lnTo>
                  <a:pt x="0" y="269875"/>
                </a:lnTo>
                <a:cubicBezTo>
                  <a:pt x="0" y="243582"/>
                  <a:pt x="17066" y="222250"/>
                  <a:pt x="38100" y="222250"/>
                </a:cubicBezTo>
                <a:cubicBezTo>
                  <a:pt x="59134" y="222250"/>
                  <a:pt x="76200" y="243582"/>
                  <a:pt x="76200" y="269875"/>
                </a:cubicBezTo>
                <a:lnTo>
                  <a:pt x="76200" y="349250"/>
                </a:lnTo>
                <a:lnTo>
                  <a:pt x="431800" y="349250"/>
                </a:lnTo>
                <a:lnTo>
                  <a:pt x="431800" y="269875"/>
                </a:lnTo>
                <a:cubicBezTo>
                  <a:pt x="431800" y="243582"/>
                  <a:pt x="448866" y="222250"/>
                  <a:pt x="469900" y="222250"/>
                </a:cubicBezTo>
                <a:cubicBezTo>
                  <a:pt x="490934" y="222250"/>
                  <a:pt x="508000" y="243582"/>
                  <a:pt x="508000" y="269875"/>
                </a:cubicBezTo>
                <a:lnTo>
                  <a:pt x="508000" y="381000"/>
                </a:lnTo>
                <a:cubicBezTo>
                  <a:pt x="508000" y="416024"/>
                  <a:pt x="485219" y="444500"/>
                  <a:pt x="457200" y="444500"/>
                </a:cubicBezTo>
                <a:lnTo>
                  <a:pt x="50800" y="444500"/>
                </a:lnTo>
                <a:cubicBezTo>
                  <a:pt x="22781" y="444500"/>
                  <a:pt x="0" y="416024"/>
                  <a:pt x="0" y="3810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501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Lounge Access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23000" y="54610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lounge passes for frequent flyers. Revenue share model.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22000" y="3937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03000" y="431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8438" y="47625"/>
                </a:moveTo>
                <a:lnTo>
                  <a:pt x="309562" y="47625"/>
                </a:lnTo>
                <a:cubicBezTo>
                  <a:pt x="313928" y="47625"/>
                  <a:pt x="317500" y="51197"/>
                  <a:pt x="317500" y="55563"/>
                </a:cubicBezTo>
                <a:lnTo>
                  <a:pt x="317500" y="95250"/>
                </a:lnTo>
                <a:lnTo>
                  <a:pt x="190500" y="95250"/>
                </a:lnTo>
                <a:lnTo>
                  <a:pt x="190500" y="55563"/>
                </a:lnTo>
                <a:cubicBezTo>
                  <a:pt x="190500" y="51197"/>
                  <a:pt x="194072" y="47625"/>
                  <a:pt x="198438" y="47625"/>
                </a:cubicBezTo>
                <a:close/>
                <a:moveTo>
                  <a:pt x="142875" y="55563"/>
                </a:moveTo>
                <a:lnTo>
                  <a:pt x="142875" y="476250"/>
                </a:lnTo>
                <a:lnTo>
                  <a:pt x="365125" y="476250"/>
                </a:lnTo>
                <a:lnTo>
                  <a:pt x="365125" y="55563"/>
                </a:lnTo>
                <a:cubicBezTo>
                  <a:pt x="365125" y="24904"/>
                  <a:pt x="340221" y="0"/>
                  <a:pt x="309562" y="0"/>
                </a:cubicBezTo>
                <a:lnTo>
                  <a:pt x="198438" y="0"/>
                </a:lnTo>
                <a:cubicBezTo>
                  <a:pt x="167779" y="0"/>
                  <a:pt x="142875" y="24904"/>
                  <a:pt x="142875" y="55563"/>
                </a:cubicBezTo>
                <a:close/>
                <a:moveTo>
                  <a:pt x="412750" y="95250"/>
                </a:moveTo>
                <a:lnTo>
                  <a:pt x="412750" y="476250"/>
                </a:lnTo>
                <a:lnTo>
                  <a:pt x="444500" y="476250"/>
                </a:lnTo>
                <a:cubicBezTo>
                  <a:pt x="479524" y="476250"/>
                  <a:pt x="508000" y="447774"/>
                  <a:pt x="508000" y="412750"/>
                </a:cubicBezTo>
                <a:lnTo>
                  <a:pt x="508000" y="158750"/>
                </a:lnTo>
                <a:cubicBezTo>
                  <a:pt x="508000" y="123726"/>
                  <a:pt x="479524" y="95250"/>
                  <a:pt x="444500" y="95250"/>
                </a:cubicBezTo>
                <a:lnTo>
                  <a:pt x="412750" y="95250"/>
                </a:lnTo>
                <a:close/>
                <a:moveTo>
                  <a:pt x="95250" y="476250"/>
                </a:moveTo>
                <a:lnTo>
                  <a:pt x="95250" y="95250"/>
                </a:lnTo>
                <a:lnTo>
                  <a:pt x="63500" y="95250"/>
                </a:lnTo>
                <a:cubicBezTo>
                  <a:pt x="28476" y="95250"/>
                  <a:pt x="0" y="123726"/>
                  <a:pt x="0" y="1587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95250" y="47625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501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Baggage Protection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303000" y="54610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Protection plans for checked luggage. Affiliate fee per activation.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000" y="6985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i="1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partner integrations are future roadmap items, not currently implemented.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12446000" y="876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Business Model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Projections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762000" y="2413000"/>
          <a:ext cx="8382000" cy="558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9906000" y="2413000"/>
            <a:ext cx="5588000" cy="12065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87000" y="2540000"/>
            <a:ext cx="127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87000" y="2895600"/>
            <a:ext cx="482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user base, product-market fit. Minimal revenue focus.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906000" y="3810000"/>
            <a:ext cx="5588000" cy="12065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7000" y="3937000"/>
            <a:ext cx="127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287000" y="42926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partnerships. Target 50K monthly searches. $180K revenue.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906000" y="5207000"/>
            <a:ext cx="5588000" cy="12065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87000" y="5334000"/>
            <a:ext cx="127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87000" y="56896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integrations. 200K monthly searches. $720K revenue.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906000" y="6604000"/>
            <a:ext cx="5588000" cy="1206500"/>
          </a:xfrm>
          <a:prstGeom prst="roundRect">
            <a:avLst>
              <a:gd name="adj" fmla="val 8000"/>
            </a:avLst>
          </a:prstGeom>
          <a:solidFill>
            <a:srgbClr val="D4AF37">
              <a:alpha val="627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87000" y="6731000"/>
            <a:ext cx="127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4+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87000" y="70866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features, loyalty program. $2M+ annual revenue target.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7"/>
          <p:cNvSpPr/>
          <p:nvPr/>
        </p:nvSpPr>
        <p:spPr>
          <a:xfrm>
            <a:off x="12446000" y="876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Business Model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7_Close_Up_of_Airplane_Wing_Above_Clouds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EIGHT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SkyScan is built for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Budget-conscious travelers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who need the lowest fares.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book during holidays, semester breaks, and study abroad.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are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price-sensitive but tech-savvy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helps them find affordable options quickly.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4610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100" y="174843"/>
                </a:moveTo>
                <a:lnTo>
                  <a:pt x="204152" y="251728"/>
                </a:lnTo>
                <a:cubicBezTo>
                  <a:pt x="211931" y="255300"/>
                  <a:pt x="220186" y="257175"/>
                  <a:pt x="228600" y="257175"/>
                </a:cubicBezTo>
                <a:cubicBezTo>
                  <a:pt x="237014" y="257175"/>
                  <a:pt x="245269" y="255300"/>
                  <a:pt x="253048" y="251728"/>
                </a:cubicBezTo>
                <a:lnTo>
                  <a:pt x="445453" y="162610"/>
                </a:lnTo>
                <a:cubicBezTo>
                  <a:pt x="452596" y="159306"/>
                  <a:pt x="457200" y="151537"/>
                  <a:pt x="457200" y="142875"/>
                </a:cubicBezTo>
                <a:cubicBezTo>
                  <a:pt x="457200" y="134213"/>
                  <a:pt x="452596" y="126444"/>
                  <a:pt x="445453" y="123140"/>
                </a:cubicBezTo>
                <a:lnTo>
                  <a:pt x="253048" y="34022"/>
                </a:lnTo>
                <a:cubicBezTo>
                  <a:pt x="245269" y="30450"/>
                  <a:pt x="237014" y="28575"/>
                  <a:pt x="228600" y="28575"/>
                </a:cubicBezTo>
                <a:cubicBezTo>
                  <a:pt x="220186" y="28575"/>
                  <a:pt x="211931" y="30450"/>
                  <a:pt x="204152" y="34022"/>
                </a:cubicBezTo>
                <a:lnTo>
                  <a:pt x="11748" y="123140"/>
                </a:lnTo>
                <a:cubicBezTo>
                  <a:pt x="4604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8493" y="428625"/>
                  <a:pt x="19050" y="428625"/>
                </a:cubicBezTo>
                <a:cubicBezTo>
                  <a:pt x="29607" y="428625"/>
                  <a:pt x="38100" y="419070"/>
                  <a:pt x="38100" y="407194"/>
                </a:cubicBezTo>
                <a:lnTo>
                  <a:pt x="38100" y="174843"/>
                </a:lnTo>
                <a:close/>
                <a:moveTo>
                  <a:pt x="76200" y="238869"/>
                </a:moveTo>
                <a:lnTo>
                  <a:pt x="76200" y="342900"/>
                </a:lnTo>
                <a:cubicBezTo>
                  <a:pt x="76200" y="390227"/>
                  <a:pt x="144463" y="428625"/>
                  <a:pt x="228600" y="428625"/>
                </a:cubicBezTo>
                <a:cubicBezTo>
                  <a:pt x="312738" y="428625"/>
                  <a:pt x="381000" y="390227"/>
                  <a:pt x="381000" y="342900"/>
                </a:cubicBezTo>
                <a:lnTo>
                  <a:pt x="381000" y="238780"/>
                </a:lnTo>
                <a:lnTo>
                  <a:pt x="267573" y="291376"/>
                </a:lnTo>
                <a:cubicBezTo>
                  <a:pt x="255191" y="297091"/>
                  <a:pt x="242014" y="300037"/>
                  <a:pt x="228600" y="300037"/>
                </a:cubicBezTo>
                <a:cubicBezTo>
                  <a:pt x="215186" y="300037"/>
                  <a:pt x="202009" y="297091"/>
                  <a:pt x="189627" y="291376"/>
                </a:cubicBezTo>
                <a:lnTo>
                  <a:pt x="76200" y="23878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6426200"/>
            <a:ext cx="266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First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68072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fare is the top priority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54610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3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1440" y="28575"/>
                </a:moveTo>
                <a:cubicBezTo>
                  <a:pt x="66223" y="28575"/>
                  <a:pt x="45720" y="54203"/>
                  <a:pt x="45720" y="85725"/>
                </a:cubicBezTo>
                <a:lnTo>
                  <a:pt x="45720" y="300038"/>
                </a:lnTo>
                <a:lnTo>
                  <a:pt x="91440" y="300038"/>
                </a:lnTo>
                <a:lnTo>
                  <a:pt x="91440" y="85725"/>
                </a:lnTo>
                <a:lnTo>
                  <a:pt x="365760" y="85725"/>
                </a:lnTo>
                <a:lnTo>
                  <a:pt x="365760" y="300038"/>
                </a:lnTo>
                <a:lnTo>
                  <a:pt x="411480" y="300038"/>
                </a:lnTo>
                <a:lnTo>
                  <a:pt x="411480" y="85725"/>
                </a:lnTo>
                <a:cubicBezTo>
                  <a:pt x="411480" y="54203"/>
                  <a:pt x="390977" y="28575"/>
                  <a:pt x="365760" y="28575"/>
                </a:cubicBezTo>
                <a:lnTo>
                  <a:pt x="91440" y="28575"/>
                </a:lnTo>
                <a:close/>
                <a:moveTo>
                  <a:pt x="13716" y="342900"/>
                </a:moveTo>
                <a:cubicBezTo>
                  <a:pt x="6144" y="342900"/>
                  <a:pt x="0" y="350580"/>
                  <a:pt x="0" y="360045"/>
                </a:cubicBezTo>
                <a:cubicBezTo>
                  <a:pt x="0" y="397907"/>
                  <a:pt x="24575" y="428625"/>
                  <a:pt x="54864" y="428625"/>
                </a:cubicBezTo>
                <a:lnTo>
                  <a:pt x="402336" y="428625"/>
                </a:lnTo>
                <a:cubicBezTo>
                  <a:pt x="432625" y="428625"/>
                  <a:pt x="457200" y="397907"/>
                  <a:pt x="457200" y="360045"/>
                </a:cubicBezTo>
                <a:cubicBezTo>
                  <a:pt x="457200" y="350580"/>
                  <a:pt x="451056" y="342900"/>
                  <a:pt x="443484" y="342900"/>
                </a:cubicBezTo>
                <a:lnTo>
                  <a:pt x="13716" y="3429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4953000" y="6426200"/>
            <a:ext cx="266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Native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53000" y="68072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Comfortable with digital tools</a:t>
            </a:r>
            <a:endParaRPr lang="en-US" sz="1400" dirty="0"/>
          </a:p>
        </p:txBody>
      </p:sp>
      <p:pic>
        <p:nvPicPr>
          <p:cNvPr id="16" name="Image 0" descr="https://kimi-img.moonshot.cn/pub/slides/okc/badrb4ll2gc4a/mnt/agents/output/skyscan/images/7_A_spacious_sunlit_modern_airpor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8890000" y="2032000"/>
            <a:ext cx="6604000" cy="5969000"/>
          </a:xfrm>
          <a:prstGeom prst="roundRect">
            <a:avLst>
              <a:gd name="adj" fmla="val 6000"/>
            </a:avLst>
          </a:prstGeom>
        </p:spPr>
      </p:pic>
      <p:sp>
        <p:nvSpPr>
          <p:cNvPr id="17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5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Target Users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Families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Parents booking for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passengers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clarity and confidence.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want the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value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necessarily the lowest price.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Family travelers appreciate transparent pricing and reliable reminders.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removes the stress from family travel planning.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4610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9951" y="-11251"/>
                </a:moveTo>
                <a:cubicBezTo>
                  <a:pt x="232807" y="-15270"/>
                  <a:pt x="224393" y="-15270"/>
                  <a:pt x="217249" y="-11251"/>
                </a:cubicBezTo>
                <a:lnTo>
                  <a:pt x="14049" y="103049"/>
                </a:lnTo>
                <a:cubicBezTo>
                  <a:pt x="1508" y="110103"/>
                  <a:pt x="-3572" y="127248"/>
                  <a:pt x="2699" y="141357"/>
                </a:cubicBezTo>
                <a:cubicBezTo>
                  <a:pt x="8969" y="155466"/>
                  <a:pt x="24209" y="161181"/>
                  <a:pt x="36751" y="154126"/>
                </a:cubicBezTo>
                <a:lnTo>
                  <a:pt x="228600" y="46256"/>
                </a:lnTo>
                <a:lnTo>
                  <a:pt x="420449" y="154126"/>
                </a:lnTo>
                <a:cubicBezTo>
                  <a:pt x="432991" y="161181"/>
                  <a:pt x="448231" y="155466"/>
                  <a:pt x="454501" y="141357"/>
                </a:cubicBezTo>
                <a:cubicBezTo>
                  <a:pt x="460772" y="127248"/>
                  <a:pt x="455692" y="110103"/>
                  <a:pt x="443151" y="103049"/>
                </a:cubicBezTo>
                <a:lnTo>
                  <a:pt x="239951" y="-11251"/>
                </a:lnTo>
                <a:close/>
                <a:moveTo>
                  <a:pt x="228600" y="242888"/>
                </a:moveTo>
                <a:cubicBezTo>
                  <a:pt x="253133" y="242888"/>
                  <a:pt x="273050" y="220480"/>
                  <a:pt x="273050" y="192881"/>
                </a:cubicBezTo>
                <a:cubicBezTo>
                  <a:pt x="273050" y="165282"/>
                  <a:pt x="253133" y="142875"/>
                  <a:pt x="228600" y="142875"/>
                </a:cubicBezTo>
                <a:cubicBezTo>
                  <a:pt x="204067" y="142875"/>
                  <a:pt x="184150" y="165282"/>
                  <a:pt x="184150" y="192881"/>
                </a:cubicBezTo>
                <a:cubicBezTo>
                  <a:pt x="184150" y="220480"/>
                  <a:pt x="204067" y="242888"/>
                  <a:pt x="228600" y="242888"/>
                </a:cubicBezTo>
                <a:close/>
                <a:moveTo>
                  <a:pt x="228600" y="285750"/>
                </a:moveTo>
                <a:cubicBezTo>
                  <a:pt x="186531" y="285750"/>
                  <a:pt x="152400" y="324148"/>
                  <a:pt x="152400" y="371475"/>
                </a:cubicBezTo>
                <a:lnTo>
                  <a:pt x="152400" y="400050"/>
                </a:lnTo>
                <a:cubicBezTo>
                  <a:pt x="152400" y="415856"/>
                  <a:pt x="163751" y="428625"/>
                  <a:pt x="177800" y="428625"/>
                </a:cubicBezTo>
                <a:lnTo>
                  <a:pt x="279400" y="428625"/>
                </a:lnTo>
                <a:cubicBezTo>
                  <a:pt x="293449" y="428625"/>
                  <a:pt x="304800" y="415856"/>
                  <a:pt x="304800" y="400050"/>
                </a:cubicBezTo>
                <a:lnTo>
                  <a:pt x="304800" y="371475"/>
                </a:lnTo>
                <a:cubicBezTo>
                  <a:pt x="304800" y="324148"/>
                  <a:pt x="270669" y="285750"/>
                  <a:pt x="228600" y="285750"/>
                </a:cubicBezTo>
                <a:close/>
                <a:moveTo>
                  <a:pt x="127000" y="228600"/>
                </a:moveTo>
                <a:cubicBezTo>
                  <a:pt x="127000" y="204944"/>
                  <a:pt x="109928" y="185738"/>
                  <a:pt x="88900" y="185738"/>
                </a:cubicBezTo>
                <a:cubicBezTo>
                  <a:pt x="67872" y="185738"/>
                  <a:pt x="50800" y="204944"/>
                  <a:pt x="50800" y="228600"/>
                </a:cubicBezTo>
                <a:cubicBezTo>
                  <a:pt x="50800" y="252256"/>
                  <a:pt x="67872" y="271463"/>
                  <a:pt x="88900" y="271463"/>
                </a:cubicBezTo>
                <a:cubicBezTo>
                  <a:pt x="109928" y="271463"/>
                  <a:pt x="127000" y="252256"/>
                  <a:pt x="127000" y="228600"/>
                </a:cubicBezTo>
                <a:close/>
                <a:moveTo>
                  <a:pt x="406400" y="228600"/>
                </a:moveTo>
                <a:cubicBezTo>
                  <a:pt x="406400" y="204944"/>
                  <a:pt x="389328" y="185738"/>
                  <a:pt x="368300" y="185738"/>
                </a:cubicBezTo>
                <a:cubicBezTo>
                  <a:pt x="347272" y="185738"/>
                  <a:pt x="330200" y="204944"/>
                  <a:pt x="330200" y="228600"/>
                </a:cubicBezTo>
                <a:cubicBezTo>
                  <a:pt x="330200" y="252256"/>
                  <a:pt x="347272" y="271463"/>
                  <a:pt x="368300" y="271463"/>
                </a:cubicBezTo>
                <a:cubicBezTo>
                  <a:pt x="389328" y="271463"/>
                  <a:pt x="406400" y="252256"/>
                  <a:pt x="406400" y="228600"/>
                </a:cubicBezTo>
                <a:close/>
                <a:moveTo>
                  <a:pt x="88900" y="300038"/>
                </a:moveTo>
                <a:cubicBezTo>
                  <a:pt x="53816" y="300038"/>
                  <a:pt x="25400" y="332006"/>
                  <a:pt x="25400" y="371475"/>
                </a:cubicBezTo>
                <a:lnTo>
                  <a:pt x="25400" y="401032"/>
                </a:lnTo>
                <a:cubicBezTo>
                  <a:pt x="25400" y="416213"/>
                  <a:pt x="36354" y="428625"/>
                  <a:pt x="49927" y="428625"/>
                </a:cubicBezTo>
                <a:lnTo>
                  <a:pt x="119618" y="428625"/>
                </a:lnTo>
                <a:cubicBezTo>
                  <a:pt x="116205" y="419874"/>
                  <a:pt x="114300" y="410230"/>
                  <a:pt x="114300" y="400050"/>
                </a:cubicBezTo>
                <a:lnTo>
                  <a:pt x="114300" y="357188"/>
                </a:lnTo>
                <a:cubicBezTo>
                  <a:pt x="114300" y="340757"/>
                  <a:pt x="117078" y="325041"/>
                  <a:pt x="122079" y="310575"/>
                </a:cubicBezTo>
                <a:cubicBezTo>
                  <a:pt x="112395" y="303877"/>
                  <a:pt x="101044" y="300038"/>
                  <a:pt x="88900" y="300038"/>
                </a:cubicBezTo>
                <a:close/>
                <a:moveTo>
                  <a:pt x="337661" y="428625"/>
                </a:moveTo>
                <a:lnTo>
                  <a:pt x="407352" y="428625"/>
                </a:lnTo>
                <a:cubicBezTo>
                  <a:pt x="420846" y="428625"/>
                  <a:pt x="431879" y="416302"/>
                  <a:pt x="431879" y="401032"/>
                </a:cubicBezTo>
                <a:lnTo>
                  <a:pt x="431879" y="371475"/>
                </a:lnTo>
                <a:cubicBezTo>
                  <a:pt x="431879" y="332006"/>
                  <a:pt x="403463" y="300038"/>
                  <a:pt x="368379" y="300038"/>
                </a:cubicBezTo>
                <a:cubicBezTo>
                  <a:pt x="356235" y="300038"/>
                  <a:pt x="344884" y="303877"/>
                  <a:pt x="335201" y="310575"/>
                </a:cubicBezTo>
                <a:cubicBezTo>
                  <a:pt x="340201" y="325041"/>
                  <a:pt x="342979" y="340757"/>
                  <a:pt x="342979" y="357188"/>
                </a:cubicBezTo>
                <a:lnTo>
                  <a:pt x="342979" y="400050"/>
                </a:lnTo>
                <a:cubicBezTo>
                  <a:pt x="342979" y="410230"/>
                  <a:pt x="341074" y="419874"/>
                  <a:pt x="337661" y="42862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6426200"/>
            <a:ext cx="266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Multi-Passenger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68072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for the whole family at once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5461000"/>
            <a:ext cx="3429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3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"/>
                </a:moveTo>
                <a:cubicBezTo>
                  <a:pt x="164465" y="28575"/>
                  <a:pt x="113109" y="61436"/>
                  <a:pt x="75724" y="100548"/>
                </a:cubicBezTo>
                <a:cubicBezTo>
                  <a:pt x="38576" y="139392"/>
                  <a:pt x="13732" y="185738"/>
                  <a:pt x="1905" y="217616"/>
                </a:cubicBezTo>
                <a:cubicBezTo>
                  <a:pt x="-714" y="224671"/>
                  <a:pt x="-714" y="232529"/>
                  <a:pt x="1905" y="239584"/>
                </a:cubicBezTo>
                <a:cubicBezTo>
                  <a:pt x="13732" y="271463"/>
                  <a:pt x="38576" y="317897"/>
                  <a:pt x="75724" y="356652"/>
                </a:cubicBezTo>
                <a:cubicBezTo>
                  <a:pt x="113109" y="395674"/>
                  <a:pt x="164465" y="428625"/>
                  <a:pt x="228600" y="428625"/>
                </a:cubicBezTo>
                <a:cubicBezTo>
                  <a:pt x="292735" y="428625"/>
                  <a:pt x="344091" y="395764"/>
                  <a:pt x="381476" y="356652"/>
                </a:cubicBezTo>
                <a:cubicBezTo>
                  <a:pt x="418624" y="317808"/>
                  <a:pt x="443468" y="271463"/>
                  <a:pt x="455295" y="239584"/>
                </a:cubicBezTo>
                <a:cubicBezTo>
                  <a:pt x="457914" y="232529"/>
                  <a:pt x="457914" y="224671"/>
                  <a:pt x="455295" y="217616"/>
                </a:cubicBezTo>
                <a:cubicBezTo>
                  <a:pt x="443468" y="185737"/>
                  <a:pt x="418624" y="139303"/>
                  <a:pt x="381476" y="100548"/>
                </a:cubicBezTo>
                <a:cubicBezTo>
                  <a:pt x="344091" y="61526"/>
                  <a:pt x="292735" y="28575"/>
                  <a:pt x="228600" y="28575"/>
                </a:cubicBezTo>
                <a:close/>
                <a:moveTo>
                  <a:pt x="114300" y="228600"/>
                </a:moveTo>
                <a:cubicBezTo>
                  <a:pt x="114300" y="157631"/>
                  <a:pt x="165516" y="100013"/>
                  <a:pt x="228600" y="100013"/>
                </a:cubicBezTo>
                <a:cubicBezTo>
                  <a:pt x="291684" y="100013"/>
                  <a:pt x="342900" y="157631"/>
                  <a:pt x="342900" y="228600"/>
                </a:cubicBezTo>
                <a:cubicBezTo>
                  <a:pt x="342900" y="299569"/>
                  <a:pt x="291684" y="357188"/>
                  <a:pt x="228600" y="357188"/>
                </a:cubicBezTo>
                <a:cubicBezTo>
                  <a:pt x="165516" y="357188"/>
                  <a:pt x="114300" y="299569"/>
                  <a:pt x="114300" y="228600"/>
                </a:cubicBezTo>
                <a:close/>
                <a:moveTo>
                  <a:pt x="228600" y="171450"/>
                </a:moveTo>
                <a:cubicBezTo>
                  <a:pt x="228600" y="202972"/>
                  <a:pt x="205819" y="228600"/>
                  <a:pt x="177800" y="228600"/>
                </a:cubicBezTo>
                <a:cubicBezTo>
                  <a:pt x="168672" y="228600"/>
                  <a:pt x="160099" y="225921"/>
                  <a:pt x="152638" y="221099"/>
                </a:cubicBezTo>
                <a:cubicBezTo>
                  <a:pt x="151844" y="230832"/>
                  <a:pt x="152559" y="240834"/>
                  <a:pt x="154940" y="250746"/>
                </a:cubicBezTo>
                <a:cubicBezTo>
                  <a:pt x="165814" y="296466"/>
                  <a:pt x="207645" y="323612"/>
                  <a:pt x="248285" y="311378"/>
                </a:cubicBezTo>
                <a:cubicBezTo>
                  <a:pt x="288925" y="299145"/>
                  <a:pt x="313055" y="252085"/>
                  <a:pt x="302181" y="206365"/>
                </a:cubicBezTo>
                <a:cubicBezTo>
                  <a:pt x="292497" y="165556"/>
                  <a:pt x="258128" y="139571"/>
                  <a:pt x="221933" y="143143"/>
                </a:cubicBezTo>
                <a:cubicBezTo>
                  <a:pt x="226139" y="151448"/>
                  <a:pt x="228600" y="161092"/>
                  <a:pt x="228600" y="17145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4953000" y="6426200"/>
            <a:ext cx="266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53000" y="68072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hidden fees, clear total pricing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90000" y="2032000"/>
            <a:ext cx="6604000" cy="5969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840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478234" y="172839"/>
                </a:moveTo>
                <a:lnTo>
                  <a:pt x="508000" y="213916"/>
                </a:lnTo>
                <a:lnTo>
                  <a:pt x="537766" y="172839"/>
                </a:lnTo>
                <a:cubicBezTo>
                  <a:pt x="587375" y="104180"/>
                  <a:pt x="667147" y="63500"/>
                  <a:pt x="751880" y="63500"/>
                </a:cubicBezTo>
                <a:cubicBezTo>
                  <a:pt x="897731" y="63500"/>
                  <a:pt x="1016000" y="181769"/>
                  <a:pt x="1016000" y="327620"/>
                </a:cubicBezTo>
                <a:lnTo>
                  <a:pt x="1016000" y="332780"/>
                </a:lnTo>
                <a:cubicBezTo>
                  <a:pt x="1016000" y="555427"/>
                  <a:pt x="738386" y="813991"/>
                  <a:pt x="593527" y="924520"/>
                </a:cubicBezTo>
                <a:cubicBezTo>
                  <a:pt x="568920" y="943173"/>
                  <a:pt x="538758" y="952500"/>
                  <a:pt x="508000" y="952500"/>
                </a:cubicBezTo>
                <a:cubicBezTo>
                  <a:pt x="477242" y="952500"/>
                  <a:pt x="446881" y="943372"/>
                  <a:pt x="422473" y="924520"/>
                </a:cubicBezTo>
                <a:cubicBezTo>
                  <a:pt x="277614" y="813991"/>
                  <a:pt x="0" y="555427"/>
                  <a:pt x="0" y="332780"/>
                </a:cubicBezTo>
                <a:lnTo>
                  <a:pt x="0" y="327620"/>
                </a:lnTo>
                <a:cubicBezTo>
                  <a:pt x="0" y="181769"/>
                  <a:pt x="118269" y="63500"/>
                  <a:pt x="264120" y="63500"/>
                </a:cubicBezTo>
                <a:cubicBezTo>
                  <a:pt x="348853" y="63500"/>
                  <a:pt x="428625" y="104180"/>
                  <a:pt x="478234" y="172839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9398000" y="4699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Stress-Free Planning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398000" y="53340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Reminders keep the family informed.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alerts ensure the best deal.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search saves precious time.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Target Users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Travelers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is money.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Business travelers book frequently and need efficiency.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value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speed, reliability, and clean interfaces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delivers results in seconds, not minutes.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reminders ensure they never miss a meeting flight.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5588000"/>
            <a:ext cx="711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 Hours Saved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62000" y="67310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year for frequent business travelers using SkyScan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890000" y="2032000"/>
            <a:ext cx="6604000" cy="5969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98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33000" y="279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First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33000" y="3238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in under 3 seconds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4064000"/>
            <a:ext cx="5588000" cy="127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98000" y="444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33000" y="444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Grade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33000" y="4889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distraction-free interface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98000" y="5715000"/>
            <a:ext cx="5588000" cy="127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398000" y="609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187144" y="0"/>
                  <a:pt x="174171" y="11351"/>
                  <a:pt x="174171" y="25400"/>
                </a:cubicBezTo>
                <a:lnTo>
                  <a:pt x="174171" y="27940"/>
                </a:lnTo>
                <a:cubicBezTo>
                  <a:pt x="107950" y="39688"/>
                  <a:pt x="58057" y="90964"/>
                  <a:pt x="58057" y="152400"/>
                </a:cubicBezTo>
                <a:lnTo>
                  <a:pt x="58057" y="169624"/>
                </a:lnTo>
                <a:cubicBezTo>
                  <a:pt x="58057" y="207804"/>
                  <a:pt x="43180" y="244872"/>
                  <a:pt x="15966" y="274717"/>
                </a:cubicBezTo>
                <a:lnTo>
                  <a:pt x="7076" y="284401"/>
                </a:lnTo>
                <a:cubicBezTo>
                  <a:pt x="2449" y="289401"/>
                  <a:pt x="0" y="295592"/>
                  <a:pt x="0" y="302022"/>
                </a:cubicBezTo>
                <a:cubicBezTo>
                  <a:pt x="0" y="317579"/>
                  <a:pt x="14424" y="330200"/>
                  <a:pt x="32204" y="330200"/>
                </a:cubicBezTo>
                <a:lnTo>
                  <a:pt x="374106" y="330200"/>
                </a:lnTo>
                <a:cubicBezTo>
                  <a:pt x="391886" y="330200"/>
                  <a:pt x="406309" y="317579"/>
                  <a:pt x="406309" y="302022"/>
                </a:cubicBezTo>
                <a:cubicBezTo>
                  <a:pt x="406309" y="295592"/>
                  <a:pt x="403860" y="289401"/>
                  <a:pt x="399234" y="284401"/>
                </a:cubicBezTo>
                <a:lnTo>
                  <a:pt x="390344" y="274717"/>
                </a:lnTo>
                <a:cubicBezTo>
                  <a:pt x="363220" y="244872"/>
                  <a:pt x="348343" y="207804"/>
                  <a:pt x="348343" y="169624"/>
                </a:cubicBezTo>
                <a:lnTo>
                  <a:pt x="348343" y="152400"/>
                </a:lnTo>
                <a:cubicBezTo>
                  <a:pt x="348343" y="90964"/>
                  <a:pt x="298450" y="39688"/>
                  <a:pt x="232229" y="27940"/>
                </a:cubicBezTo>
                <a:lnTo>
                  <a:pt x="232229" y="25400"/>
                </a:lnTo>
                <a:cubicBezTo>
                  <a:pt x="232229" y="11351"/>
                  <a:pt x="219256" y="0"/>
                  <a:pt x="203200" y="0"/>
                </a:cubicBezTo>
                <a:close/>
                <a:moveTo>
                  <a:pt x="146957" y="368300"/>
                </a:moveTo>
                <a:cubicBezTo>
                  <a:pt x="153398" y="390208"/>
                  <a:pt x="176167" y="406400"/>
                  <a:pt x="203200" y="406400"/>
                </a:cubicBezTo>
                <a:cubicBezTo>
                  <a:pt x="230233" y="406400"/>
                  <a:pt x="253002" y="390208"/>
                  <a:pt x="259443" y="368300"/>
                </a:cubicBezTo>
                <a:lnTo>
                  <a:pt x="146957" y="3683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33000" y="609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Miss a Flight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33000" y="6540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reminders before departure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Target Users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Tourists &amp; Frequent Flyers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Tourists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exploring new destinations need inspiration and comparison tools.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Frequent flyers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book regularly and want to optimize their travel spending. Both groups benefit from price drop alerts and the simplicity of a single search platform.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318000"/>
            <a:ext cx="6985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476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7200" y="47625"/>
                </a:moveTo>
                <a:cubicBezTo>
                  <a:pt x="457200" y="36612"/>
                  <a:pt x="452676" y="26392"/>
                  <a:pt x="445135" y="20638"/>
                </a:cubicBezTo>
                <a:cubicBezTo>
                  <a:pt x="437594" y="14883"/>
                  <a:pt x="428307" y="14288"/>
                  <a:pt x="420449" y="19248"/>
                </a:cubicBezTo>
                <a:lnTo>
                  <a:pt x="328216" y="76895"/>
                </a:lnTo>
                <a:lnTo>
                  <a:pt x="185817" y="17463"/>
                </a:lnTo>
                <a:cubicBezTo>
                  <a:pt x="179388" y="14784"/>
                  <a:pt x="172482" y="15379"/>
                  <a:pt x="166449" y="19149"/>
                </a:cubicBezTo>
                <a:lnTo>
                  <a:pt x="64849" y="82649"/>
                </a:lnTo>
                <a:cubicBezTo>
                  <a:pt x="56198" y="88106"/>
                  <a:pt x="50800" y="99120"/>
                  <a:pt x="50800" y="111125"/>
                </a:cubicBezTo>
                <a:lnTo>
                  <a:pt x="50800" y="460375"/>
                </a:lnTo>
                <a:cubicBezTo>
                  <a:pt x="50800" y="471388"/>
                  <a:pt x="55324" y="481608"/>
                  <a:pt x="62865" y="487362"/>
                </a:cubicBezTo>
                <a:cubicBezTo>
                  <a:pt x="70406" y="493117"/>
                  <a:pt x="79693" y="493712"/>
                  <a:pt x="87551" y="488752"/>
                </a:cubicBezTo>
                <a:lnTo>
                  <a:pt x="179705" y="431105"/>
                </a:lnTo>
                <a:lnTo>
                  <a:pt x="317262" y="488454"/>
                </a:lnTo>
                <a:cubicBezTo>
                  <a:pt x="313849" y="482104"/>
                  <a:pt x="310515" y="475456"/>
                  <a:pt x="307261" y="468709"/>
                </a:cubicBezTo>
                <a:cubicBezTo>
                  <a:pt x="298529" y="450552"/>
                  <a:pt x="289878" y="429716"/>
                  <a:pt x="283448" y="407392"/>
                </a:cubicBezTo>
                <a:lnTo>
                  <a:pt x="203121" y="373955"/>
                </a:lnTo>
                <a:lnTo>
                  <a:pt x="203121" y="91678"/>
                </a:lnTo>
                <a:lnTo>
                  <a:pt x="304721" y="134045"/>
                </a:lnTo>
                <a:lnTo>
                  <a:pt x="304721" y="232569"/>
                </a:lnTo>
                <a:cubicBezTo>
                  <a:pt x="329327" y="197048"/>
                  <a:pt x="365839" y="174625"/>
                  <a:pt x="406321" y="174625"/>
                </a:cubicBezTo>
                <a:cubicBezTo>
                  <a:pt x="424259" y="174625"/>
                  <a:pt x="441404" y="178991"/>
                  <a:pt x="457121" y="187027"/>
                </a:cubicBezTo>
                <a:lnTo>
                  <a:pt x="457200" y="47625"/>
                </a:lnTo>
                <a:close/>
                <a:moveTo>
                  <a:pt x="406400" y="222250"/>
                </a:moveTo>
                <a:cubicBezTo>
                  <a:pt x="353774" y="222250"/>
                  <a:pt x="311150" y="274638"/>
                  <a:pt x="311150" y="339229"/>
                </a:cubicBezTo>
                <a:cubicBezTo>
                  <a:pt x="311150" y="407591"/>
                  <a:pt x="362029" y="488454"/>
                  <a:pt x="389414" y="527050"/>
                </a:cubicBezTo>
                <a:cubicBezTo>
                  <a:pt x="398621" y="539948"/>
                  <a:pt x="414258" y="539948"/>
                  <a:pt x="423466" y="527050"/>
                </a:cubicBezTo>
                <a:cubicBezTo>
                  <a:pt x="450850" y="488454"/>
                  <a:pt x="501729" y="407591"/>
                  <a:pt x="501729" y="339229"/>
                </a:cubicBezTo>
                <a:cubicBezTo>
                  <a:pt x="501729" y="274638"/>
                  <a:pt x="459105" y="222250"/>
                  <a:pt x="406479" y="222250"/>
                </a:cubicBezTo>
                <a:close/>
                <a:moveTo>
                  <a:pt x="374650" y="341313"/>
                </a:moveTo>
                <a:cubicBezTo>
                  <a:pt x="374650" y="319408"/>
                  <a:pt x="388877" y="301625"/>
                  <a:pt x="406400" y="301625"/>
                </a:cubicBezTo>
                <a:cubicBezTo>
                  <a:pt x="423923" y="301625"/>
                  <a:pt x="438150" y="319408"/>
                  <a:pt x="438150" y="341313"/>
                </a:cubicBezTo>
                <a:cubicBezTo>
                  <a:pt x="438150" y="363217"/>
                  <a:pt x="423923" y="381000"/>
                  <a:pt x="406400" y="381000"/>
                </a:cubicBezTo>
                <a:cubicBezTo>
                  <a:pt x="388877" y="381000"/>
                  <a:pt x="374650" y="363217"/>
                  <a:pt x="374650" y="341313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905000" y="469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Tourists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05000" y="51181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inspiration and easy comparison for leisure travel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413500"/>
            <a:ext cx="6985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685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5788" y="33536"/>
                </a:moveTo>
                <a:cubicBezTo>
                  <a:pt x="120253" y="27484"/>
                  <a:pt x="127397" y="23812"/>
                  <a:pt x="134938" y="23812"/>
                </a:cubicBezTo>
                <a:lnTo>
                  <a:pt x="373063" y="23812"/>
                </a:lnTo>
                <a:cubicBezTo>
                  <a:pt x="380603" y="23812"/>
                  <a:pt x="387747" y="27384"/>
                  <a:pt x="392212" y="33536"/>
                </a:cubicBezTo>
                <a:lnTo>
                  <a:pt x="503337" y="184348"/>
                </a:lnTo>
                <a:cubicBezTo>
                  <a:pt x="510084" y="193477"/>
                  <a:pt x="509389" y="206077"/>
                  <a:pt x="501848" y="214511"/>
                </a:cubicBezTo>
                <a:lnTo>
                  <a:pt x="271661" y="468511"/>
                </a:lnTo>
                <a:cubicBezTo>
                  <a:pt x="267196" y="473472"/>
                  <a:pt x="260747" y="476349"/>
                  <a:pt x="254000" y="476349"/>
                </a:cubicBezTo>
                <a:cubicBezTo>
                  <a:pt x="247253" y="476349"/>
                  <a:pt x="240903" y="473472"/>
                  <a:pt x="236339" y="468511"/>
                </a:cubicBezTo>
                <a:lnTo>
                  <a:pt x="6152" y="214511"/>
                </a:lnTo>
                <a:cubicBezTo>
                  <a:pt x="-1488" y="206077"/>
                  <a:pt x="-2084" y="193477"/>
                  <a:pt x="4663" y="184348"/>
                </a:cubicBezTo>
                <a:lnTo>
                  <a:pt x="115788" y="33536"/>
                </a:lnTo>
                <a:close/>
                <a:moveTo>
                  <a:pt x="153988" y="73025"/>
                </a:moveTo>
                <a:cubicBezTo>
                  <a:pt x="150713" y="75505"/>
                  <a:pt x="149820" y="79970"/>
                  <a:pt x="151904" y="83443"/>
                </a:cubicBezTo>
                <a:lnTo>
                  <a:pt x="208855" y="178395"/>
                </a:lnTo>
                <a:lnTo>
                  <a:pt x="62805" y="190500"/>
                </a:lnTo>
                <a:cubicBezTo>
                  <a:pt x="58737" y="190798"/>
                  <a:pt x="55563" y="194270"/>
                  <a:pt x="55563" y="198438"/>
                </a:cubicBezTo>
                <a:cubicBezTo>
                  <a:pt x="55563" y="202605"/>
                  <a:pt x="58738" y="205978"/>
                  <a:pt x="62805" y="206375"/>
                </a:cubicBezTo>
                <a:lnTo>
                  <a:pt x="253305" y="222250"/>
                </a:lnTo>
                <a:cubicBezTo>
                  <a:pt x="253702" y="222250"/>
                  <a:pt x="254198" y="222250"/>
                  <a:pt x="254595" y="222250"/>
                </a:cubicBezTo>
                <a:lnTo>
                  <a:pt x="445095" y="206375"/>
                </a:lnTo>
                <a:cubicBezTo>
                  <a:pt x="449163" y="206077"/>
                  <a:pt x="452338" y="202605"/>
                  <a:pt x="452338" y="198438"/>
                </a:cubicBezTo>
                <a:cubicBezTo>
                  <a:pt x="452338" y="194270"/>
                  <a:pt x="449163" y="190897"/>
                  <a:pt x="445095" y="190500"/>
                </a:cubicBezTo>
                <a:lnTo>
                  <a:pt x="299045" y="178296"/>
                </a:lnTo>
                <a:lnTo>
                  <a:pt x="355997" y="83443"/>
                </a:lnTo>
                <a:cubicBezTo>
                  <a:pt x="358080" y="79970"/>
                  <a:pt x="357188" y="75406"/>
                  <a:pt x="353913" y="73025"/>
                </a:cubicBezTo>
                <a:cubicBezTo>
                  <a:pt x="350639" y="70644"/>
                  <a:pt x="346075" y="71041"/>
                  <a:pt x="343297" y="74017"/>
                </a:cubicBezTo>
                <a:lnTo>
                  <a:pt x="254000" y="170855"/>
                </a:lnTo>
                <a:lnTo>
                  <a:pt x="164604" y="74017"/>
                </a:lnTo>
                <a:cubicBezTo>
                  <a:pt x="161826" y="71041"/>
                  <a:pt x="157262" y="70644"/>
                  <a:pt x="153988" y="7302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1905000" y="679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Frequent Flyers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05000" y="7213600"/>
            <a:ext cx="546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Want to optimize spending and track price changes over 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82000" y="4318000"/>
            <a:ext cx="7112000" cy="3873500"/>
          </a:xfrm>
          <a:prstGeom prst="roundRect">
            <a:avLst>
              <a:gd name="adj" fmla="val 6000"/>
            </a:avLst>
          </a:prstGeom>
          <a:solidFill>
            <a:srgbClr val="D4AF37">
              <a:alpha val="627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0000" y="47625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Benefits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90000" y="5397500"/>
            <a:ext cx="609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Price drop alerts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Simple single search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Trip reminders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Transparent comparisons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Target Users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9_Global_Network_Connection_Map_Glowing.png">    </p:cNvPr>
          <p:cNvPicPr>
            <a:picLocks noChangeAspect="1"/>
          </p:cNvPicPr>
          <p:nvPr/>
        </p:nvPicPr>
        <p:blipFill>
          <a:blip r:embed="rId1"/>
          <a:srcRect l="333" r="33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NINE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Analysis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SkyScan stands apart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Competitive Landscape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13000"/>
          <a:ext cx="14732000" cy="5588000"/>
        </p:xfrm>
        <a:graphic>
          <a:graphicData uri="http://schemas.openxmlformats.org/drawingml/2006/table">
            <a:tbl>
              <a:tblPr/>
              <a:tblGrid>
                <a:gridCol w="2357120"/>
                <a:gridCol w="3093720"/>
                <a:gridCol w="3093720"/>
                <a:gridCol w="3093720"/>
                <a:gridCol w="309372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SkyScan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Skyscanner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Google Flights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A0A0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Kayak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12293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Interface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D4AF3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Clean, minimal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Cluttered with ads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Functional but busy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Feature-heavy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</a:tr>
              <a:tr h="12293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Price Alerts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D4AF3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Built-in, free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Available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Basic only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Available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</a:tr>
              <a:tr h="12293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Trip Reminders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D4AF3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Automated emails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Limited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</a:tr>
              <a:tr h="12293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Booking Model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D4AF3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Transparent redirect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Pushes own inventory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Direct booking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5F5F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OTA-focused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12192000" y="87630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Competitive Analysis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SkyScan Advantage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4765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85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250" y="0"/>
                </a:moveTo>
                <a:cubicBezTo>
                  <a:pt x="389930" y="0"/>
                  <a:pt x="428923" y="16173"/>
                  <a:pt x="457597" y="44847"/>
                </a:cubicBezTo>
                <a:lnTo>
                  <a:pt x="463054" y="50304"/>
                </a:lnTo>
                <a:cubicBezTo>
                  <a:pt x="491827" y="79077"/>
                  <a:pt x="508000" y="118070"/>
                  <a:pt x="508000" y="158651"/>
                </a:cubicBezTo>
                <a:cubicBezTo>
                  <a:pt x="508000" y="182563"/>
                  <a:pt x="502345" y="205879"/>
                  <a:pt x="491927" y="226913"/>
                </a:cubicBezTo>
                <a:cubicBezTo>
                  <a:pt x="490041" y="230584"/>
                  <a:pt x="486668" y="233362"/>
                  <a:pt x="482699" y="234553"/>
                </a:cubicBezTo>
                <a:lnTo>
                  <a:pt x="371574" y="267891"/>
                </a:lnTo>
                <a:cubicBezTo>
                  <a:pt x="367705" y="269081"/>
                  <a:pt x="365125" y="272554"/>
                  <a:pt x="365125" y="276622"/>
                </a:cubicBezTo>
                <a:cubicBezTo>
                  <a:pt x="365125" y="281682"/>
                  <a:pt x="369193" y="285750"/>
                  <a:pt x="374253" y="285750"/>
                </a:cubicBezTo>
                <a:lnTo>
                  <a:pt x="406202" y="285750"/>
                </a:lnTo>
                <a:cubicBezTo>
                  <a:pt x="420390" y="285750"/>
                  <a:pt x="427434" y="302816"/>
                  <a:pt x="417413" y="312837"/>
                </a:cubicBezTo>
                <a:lnTo>
                  <a:pt x="395188" y="335062"/>
                </a:lnTo>
                <a:cubicBezTo>
                  <a:pt x="393303" y="336947"/>
                  <a:pt x="391021" y="338237"/>
                  <a:pt x="388541" y="339030"/>
                </a:cubicBezTo>
                <a:lnTo>
                  <a:pt x="308173" y="363141"/>
                </a:lnTo>
                <a:cubicBezTo>
                  <a:pt x="304304" y="364331"/>
                  <a:pt x="301724" y="367804"/>
                  <a:pt x="301724" y="371872"/>
                </a:cubicBezTo>
                <a:cubicBezTo>
                  <a:pt x="301724" y="376932"/>
                  <a:pt x="305792" y="381000"/>
                  <a:pt x="310852" y="381000"/>
                </a:cubicBezTo>
                <a:cubicBezTo>
                  <a:pt x="323949" y="381000"/>
                  <a:pt x="329605" y="396577"/>
                  <a:pt x="318591" y="403721"/>
                </a:cubicBezTo>
                <a:cubicBezTo>
                  <a:pt x="277813" y="430113"/>
                  <a:pt x="229989" y="444500"/>
                  <a:pt x="180677" y="444500"/>
                </a:cubicBezTo>
                <a:lnTo>
                  <a:pt x="95349" y="444500"/>
                </a:lnTo>
                <a:lnTo>
                  <a:pt x="47724" y="492125"/>
                </a:lnTo>
                <a:cubicBezTo>
                  <a:pt x="38993" y="500856"/>
                  <a:pt x="24705" y="500856"/>
                  <a:pt x="15974" y="492125"/>
                </a:cubicBezTo>
                <a:cubicBezTo>
                  <a:pt x="7243" y="483394"/>
                  <a:pt x="7243" y="469106"/>
                  <a:pt x="15974" y="460375"/>
                </a:cubicBezTo>
                <a:lnTo>
                  <a:pt x="254000" y="222250"/>
                </a:lnTo>
                <a:cubicBezTo>
                  <a:pt x="262731" y="213519"/>
                  <a:pt x="262731" y="199231"/>
                  <a:pt x="254000" y="190500"/>
                </a:cubicBezTo>
                <a:cubicBezTo>
                  <a:pt x="245269" y="181769"/>
                  <a:pt x="230981" y="181769"/>
                  <a:pt x="222250" y="190500"/>
                </a:cubicBezTo>
                <a:lnTo>
                  <a:pt x="78879" y="333871"/>
                </a:lnTo>
                <a:cubicBezTo>
                  <a:pt x="73223" y="339527"/>
                  <a:pt x="63500" y="335558"/>
                  <a:pt x="63500" y="327521"/>
                </a:cubicBezTo>
                <a:cubicBezTo>
                  <a:pt x="63500" y="260152"/>
                  <a:pt x="90289" y="195560"/>
                  <a:pt x="137914" y="147935"/>
                </a:cubicBezTo>
                <a:lnTo>
                  <a:pt x="240903" y="44847"/>
                </a:lnTo>
                <a:cubicBezTo>
                  <a:pt x="269577" y="16173"/>
                  <a:pt x="308570" y="0"/>
                  <a:pt x="34925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55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Simplicity First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0005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Cleanest interface in the market. No clutter. No ads. Just flights.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4765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23000" y="285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223000" y="355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Focused Features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23000" y="40005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what travelers actually need. No bloat. No unnecessary extras.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24765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3000" y="285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0" y="355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Intelligence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303000" y="40005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alerts that competitors charge for. Always free.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6515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63500"/>
                </a:moveTo>
                <a:cubicBezTo>
                  <a:pt x="164420" y="63500"/>
                  <a:pt x="89921" y="120352"/>
                  <a:pt x="75179" y="195163"/>
                </a:cubicBezTo>
                <a:cubicBezTo>
                  <a:pt x="85725" y="192187"/>
                  <a:pt x="97064" y="190500"/>
                  <a:pt x="108857" y="190500"/>
                </a:cubicBezTo>
                <a:lnTo>
                  <a:pt x="127000" y="190500"/>
                </a:lnTo>
                <a:cubicBezTo>
                  <a:pt x="157049" y="190500"/>
                  <a:pt x="181429" y="211832"/>
                  <a:pt x="181429" y="238125"/>
                </a:cubicBezTo>
                <a:lnTo>
                  <a:pt x="181429" y="333375"/>
                </a:lnTo>
                <a:cubicBezTo>
                  <a:pt x="181429" y="359668"/>
                  <a:pt x="157049" y="381000"/>
                  <a:pt x="127000" y="381000"/>
                </a:cubicBezTo>
                <a:lnTo>
                  <a:pt x="108857" y="381000"/>
                </a:lnTo>
                <a:cubicBezTo>
                  <a:pt x="48759" y="381000"/>
                  <a:pt x="0" y="338336"/>
                  <a:pt x="0" y="285750"/>
                </a:cubicBezTo>
                <a:lnTo>
                  <a:pt x="0" y="222250"/>
                </a:lnTo>
                <a:cubicBezTo>
                  <a:pt x="0" y="99516"/>
                  <a:pt x="113733" y="0"/>
                  <a:pt x="254000" y="0"/>
                </a:cubicBezTo>
                <a:cubicBezTo>
                  <a:pt x="394267" y="0"/>
                  <a:pt x="508000" y="99516"/>
                  <a:pt x="508000" y="222250"/>
                </a:cubicBezTo>
                <a:lnTo>
                  <a:pt x="508000" y="389037"/>
                </a:lnTo>
                <a:cubicBezTo>
                  <a:pt x="508000" y="454819"/>
                  <a:pt x="446995" y="508099"/>
                  <a:pt x="371815" y="508099"/>
                </a:cubicBezTo>
                <a:lnTo>
                  <a:pt x="272143" y="508000"/>
                </a:lnTo>
                <a:lnTo>
                  <a:pt x="235857" y="508000"/>
                </a:lnTo>
                <a:cubicBezTo>
                  <a:pt x="205808" y="508000"/>
                  <a:pt x="181429" y="486668"/>
                  <a:pt x="181429" y="460375"/>
                </a:cubicBezTo>
                <a:cubicBezTo>
                  <a:pt x="181429" y="434082"/>
                  <a:pt x="205808" y="412750"/>
                  <a:pt x="235857" y="412750"/>
                </a:cubicBezTo>
                <a:lnTo>
                  <a:pt x="272143" y="412750"/>
                </a:lnTo>
                <a:cubicBezTo>
                  <a:pt x="302192" y="412750"/>
                  <a:pt x="326571" y="434082"/>
                  <a:pt x="326571" y="460375"/>
                </a:cubicBezTo>
                <a:lnTo>
                  <a:pt x="326571" y="460375"/>
                </a:lnTo>
                <a:lnTo>
                  <a:pt x="371929" y="460375"/>
                </a:lnTo>
                <a:cubicBezTo>
                  <a:pt x="417059" y="460375"/>
                  <a:pt x="453571" y="428427"/>
                  <a:pt x="453571" y="388938"/>
                </a:cubicBezTo>
                <a:lnTo>
                  <a:pt x="453571" y="368201"/>
                </a:lnTo>
                <a:cubicBezTo>
                  <a:pt x="437583" y="376337"/>
                  <a:pt x="418987" y="380901"/>
                  <a:pt x="399143" y="380901"/>
                </a:cubicBezTo>
                <a:lnTo>
                  <a:pt x="381000" y="380901"/>
                </a:lnTo>
                <a:cubicBezTo>
                  <a:pt x="350951" y="380901"/>
                  <a:pt x="326571" y="359569"/>
                  <a:pt x="326571" y="333276"/>
                </a:cubicBezTo>
                <a:lnTo>
                  <a:pt x="326571" y="238026"/>
                </a:lnTo>
                <a:cubicBezTo>
                  <a:pt x="326571" y="211733"/>
                  <a:pt x="350951" y="190401"/>
                  <a:pt x="381000" y="190401"/>
                </a:cubicBezTo>
                <a:lnTo>
                  <a:pt x="399143" y="190401"/>
                </a:lnTo>
                <a:cubicBezTo>
                  <a:pt x="410936" y="190401"/>
                  <a:pt x="422162" y="191988"/>
                  <a:pt x="432821" y="195064"/>
                </a:cubicBezTo>
                <a:cubicBezTo>
                  <a:pt x="418079" y="120352"/>
                  <a:pt x="343694" y="63401"/>
                  <a:pt x="254000" y="63401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673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 Support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7175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Reminders that keep travelers informed from search to departure.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42000" y="56515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D4AF37">
              <a:alpha val="12549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30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6223000" y="673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Model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23000" y="7175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do not sell flights. No hidden agenda. No conflict of interest.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22000" y="56515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030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5788" y="33536"/>
                </a:moveTo>
                <a:cubicBezTo>
                  <a:pt x="120253" y="27484"/>
                  <a:pt x="127397" y="23812"/>
                  <a:pt x="134938" y="23812"/>
                </a:cubicBezTo>
                <a:lnTo>
                  <a:pt x="373063" y="23812"/>
                </a:lnTo>
                <a:cubicBezTo>
                  <a:pt x="380603" y="23812"/>
                  <a:pt x="387747" y="27384"/>
                  <a:pt x="392212" y="33536"/>
                </a:cubicBezTo>
                <a:lnTo>
                  <a:pt x="503337" y="184348"/>
                </a:lnTo>
                <a:cubicBezTo>
                  <a:pt x="510084" y="193477"/>
                  <a:pt x="509389" y="206077"/>
                  <a:pt x="501848" y="214511"/>
                </a:cubicBezTo>
                <a:lnTo>
                  <a:pt x="271661" y="468511"/>
                </a:lnTo>
                <a:cubicBezTo>
                  <a:pt x="267196" y="473472"/>
                  <a:pt x="260747" y="476349"/>
                  <a:pt x="254000" y="476349"/>
                </a:cubicBezTo>
                <a:cubicBezTo>
                  <a:pt x="247253" y="476349"/>
                  <a:pt x="240903" y="473472"/>
                  <a:pt x="236339" y="468511"/>
                </a:cubicBezTo>
                <a:lnTo>
                  <a:pt x="6152" y="214511"/>
                </a:lnTo>
                <a:cubicBezTo>
                  <a:pt x="-1488" y="206077"/>
                  <a:pt x="-2084" y="193477"/>
                  <a:pt x="4663" y="184348"/>
                </a:cubicBezTo>
                <a:lnTo>
                  <a:pt x="115788" y="33536"/>
                </a:lnTo>
                <a:close/>
                <a:moveTo>
                  <a:pt x="153988" y="73025"/>
                </a:moveTo>
                <a:cubicBezTo>
                  <a:pt x="150713" y="75505"/>
                  <a:pt x="149820" y="79970"/>
                  <a:pt x="151904" y="83443"/>
                </a:cubicBezTo>
                <a:lnTo>
                  <a:pt x="208855" y="178395"/>
                </a:lnTo>
                <a:lnTo>
                  <a:pt x="62805" y="190500"/>
                </a:lnTo>
                <a:cubicBezTo>
                  <a:pt x="58737" y="190798"/>
                  <a:pt x="55563" y="194270"/>
                  <a:pt x="55563" y="198438"/>
                </a:cubicBezTo>
                <a:cubicBezTo>
                  <a:pt x="55563" y="202605"/>
                  <a:pt x="58738" y="205978"/>
                  <a:pt x="62805" y="206375"/>
                </a:cubicBezTo>
                <a:lnTo>
                  <a:pt x="253305" y="222250"/>
                </a:lnTo>
                <a:cubicBezTo>
                  <a:pt x="253702" y="222250"/>
                  <a:pt x="254198" y="222250"/>
                  <a:pt x="254595" y="222250"/>
                </a:cubicBezTo>
                <a:lnTo>
                  <a:pt x="445095" y="206375"/>
                </a:lnTo>
                <a:cubicBezTo>
                  <a:pt x="449163" y="206077"/>
                  <a:pt x="452338" y="202605"/>
                  <a:pt x="452338" y="198438"/>
                </a:cubicBezTo>
                <a:cubicBezTo>
                  <a:pt x="452338" y="194270"/>
                  <a:pt x="449163" y="190897"/>
                  <a:pt x="445095" y="190500"/>
                </a:cubicBezTo>
                <a:lnTo>
                  <a:pt x="299045" y="178296"/>
                </a:lnTo>
                <a:lnTo>
                  <a:pt x="355997" y="83443"/>
                </a:lnTo>
                <a:cubicBezTo>
                  <a:pt x="358080" y="79970"/>
                  <a:pt x="357188" y="75406"/>
                  <a:pt x="353913" y="73025"/>
                </a:cubicBezTo>
                <a:cubicBezTo>
                  <a:pt x="350639" y="70644"/>
                  <a:pt x="346075" y="71041"/>
                  <a:pt x="343297" y="74017"/>
                </a:cubicBezTo>
                <a:lnTo>
                  <a:pt x="254000" y="170855"/>
                </a:lnTo>
                <a:lnTo>
                  <a:pt x="164604" y="74017"/>
                </a:lnTo>
                <a:cubicBezTo>
                  <a:pt x="161826" y="71041"/>
                  <a:pt x="157262" y="70644"/>
                  <a:pt x="153988" y="7302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11303000" y="673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Experience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303000" y="7175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Dark, elegant UI that feels like a luxury product, not a utility.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12192000" y="87630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Competitive Analysis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1_92_000_Cloud_Computing_Blue_Stock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TEN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modern, scalable architecture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540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D4AF37">
              <a:alpha val="823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905000" y="2730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Layer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05000" y="3073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web interface with glassmorphism design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01000" y="3556000"/>
            <a:ext cx="0" cy="31750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62000" y="3873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412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2571" y="31750"/>
                </a:moveTo>
                <a:cubicBezTo>
                  <a:pt x="32544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32544" y="222250"/>
                  <a:pt x="72571" y="222250"/>
                </a:cubicBezTo>
                <a:lnTo>
                  <a:pt x="435429" y="222250"/>
                </a:lnTo>
                <a:cubicBezTo>
                  <a:pt x="475456" y="222250"/>
                  <a:pt x="508000" y="193774"/>
                  <a:pt x="508000" y="158750"/>
                </a:cubicBezTo>
                <a:lnTo>
                  <a:pt x="508000" y="95250"/>
                </a:lnTo>
                <a:cubicBezTo>
                  <a:pt x="508000" y="60226"/>
                  <a:pt x="475456" y="31750"/>
                  <a:pt x="435429" y="31750"/>
                </a:cubicBezTo>
                <a:lnTo>
                  <a:pt x="72571" y="31750"/>
                </a:lnTo>
                <a:close/>
                <a:moveTo>
                  <a:pt x="317500" y="103188"/>
                </a:moveTo>
                <a:cubicBezTo>
                  <a:pt x="332520" y="103188"/>
                  <a:pt x="344714" y="113858"/>
                  <a:pt x="344714" y="127000"/>
                </a:cubicBezTo>
                <a:cubicBezTo>
                  <a:pt x="344714" y="140142"/>
                  <a:pt x="332520" y="150813"/>
                  <a:pt x="317500" y="150813"/>
                </a:cubicBezTo>
                <a:cubicBezTo>
                  <a:pt x="302480" y="150813"/>
                  <a:pt x="290286" y="140142"/>
                  <a:pt x="290286" y="127000"/>
                </a:cubicBezTo>
                <a:cubicBezTo>
                  <a:pt x="290286" y="113858"/>
                  <a:pt x="302480" y="103188"/>
                  <a:pt x="317500" y="103188"/>
                </a:cubicBezTo>
                <a:close/>
                <a:moveTo>
                  <a:pt x="381000" y="127000"/>
                </a:moveTo>
                <a:cubicBezTo>
                  <a:pt x="381000" y="113858"/>
                  <a:pt x="393194" y="103188"/>
                  <a:pt x="408214" y="103188"/>
                </a:cubicBezTo>
                <a:cubicBezTo>
                  <a:pt x="423234" y="103188"/>
                  <a:pt x="435429" y="113858"/>
                  <a:pt x="435429" y="127000"/>
                </a:cubicBezTo>
                <a:cubicBezTo>
                  <a:pt x="435429" y="140142"/>
                  <a:pt x="423234" y="150813"/>
                  <a:pt x="408214" y="150813"/>
                </a:cubicBezTo>
                <a:cubicBezTo>
                  <a:pt x="393194" y="150813"/>
                  <a:pt x="381000" y="140142"/>
                  <a:pt x="381000" y="127000"/>
                </a:cubicBezTo>
                <a:close/>
                <a:moveTo>
                  <a:pt x="72571" y="285750"/>
                </a:moveTo>
                <a:cubicBezTo>
                  <a:pt x="32544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349250"/>
                </a:lnTo>
                <a:cubicBezTo>
                  <a:pt x="508000" y="314226"/>
                  <a:pt x="475456" y="285750"/>
                  <a:pt x="435429" y="285750"/>
                </a:cubicBezTo>
                <a:lnTo>
                  <a:pt x="72571" y="285750"/>
                </a:lnTo>
                <a:close/>
                <a:moveTo>
                  <a:pt x="317500" y="357188"/>
                </a:moveTo>
                <a:cubicBezTo>
                  <a:pt x="332520" y="357188"/>
                  <a:pt x="344714" y="367858"/>
                  <a:pt x="344714" y="381000"/>
                </a:cubicBezTo>
                <a:cubicBezTo>
                  <a:pt x="344714" y="394142"/>
                  <a:pt x="332520" y="404813"/>
                  <a:pt x="317500" y="404813"/>
                </a:cubicBezTo>
                <a:cubicBezTo>
                  <a:pt x="302480" y="404813"/>
                  <a:pt x="290286" y="394142"/>
                  <a:pt x="290286" y="381000"/>
                </a:cubicBezTo>
                <a:cubicBezTo>
                  <a:pt x="290286" y="367858"/>
                  <a:pt x="302480" y="357188"/>
                  <a:pt x="317500" y="357188"/>
                </a:cubicBezTo>
                <a:close/>
                <a:moveTo>
                  <a:pt x="381000" y="381000"/>
                </a:moveTo>
                <a:cubicBezTo>
                  <a:pt x="381000" y="367858"/>
                  <a:pt x="393194" y="357188"/>
                  <a:pt x="408214" y="357188"/>
                </a:cubicBezTo>
                <a:cubicBezTo>
                  <a:pt x="423234" y="357188"/>
                  <a:pt x="435429" y="367858"/>
                  <a:pt x="435429" y="381000"/>
                </a:cubicBezTo>
                <a:cubicBezTo>
                  <a:pt x="435429" y="394142"/>
                  <a:pt x="423234" y="404813"/>
                  <a:pt x="408214" y="404813"/>
                </a:cubicBezTo>
                <a:cubicBezTo>
                  <a:pt x="393194" y="404813"/>
                  <a:pt x="381000" y="394142"/>
                  <a:pt x="381000" y="3810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1905000" y="4064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05000" y="44069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platform: search, comparison, user management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01000" y="4889500"/>
            <a:ext cx="0" cy="31750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" y="5207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905000" y="539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05000" y="5740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Flight APIs providing real-time pricing and availability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6223000"/>
            <a:ext cx="0" cy="31750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62000" y="6540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679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25" y="63500"/>
                </a:moveTo>
                <a:cubicBezTo>
                  <a:pt x="21332" y="63500"/>
                  <a:pt x="0" y="84832"/>
                  <a:pt x="0" y="111125"/>
                </a:cubicBezTo>
                <a:cubicBezTo>
                  <a:pt x="0" y="126107"/>
                  <a:pt x="7045" y="140196"/>
                  <a:pt x="19050" y="149225"/>
                </a:cubicBezTo>
                <a:lnTo>
                  <a:pt x="225425" y="304006"/>
                </a:lnTo>
                <a:cubicBezTo>
                  <a:pt x="242391" y="316706"/>
                  <a:pt x="265609" y="316706"/>
                  <a:pt x="282575" y="304006"/>
                </a:cubicBezTo>
                <a:lnTo>
                  <a:pt x="488950" y="149225"/>
                </a:lnTo>
                <a:cubicBezTo>
                  <a:pt x="500955" y="140196"/>
                  <a:pt x="508000" y="126107"/>
                  <a:pt x="508000" y="111125"/>
                </a:cubicBezTo>
                <a:cubicBezTo>
                  <a:pt x="508000" y="84832"/>
                  <a:pt x="486668" y="63500"/>
                  <a:pt x="460375" y="63500"/>
                </a:cubicBezTo>
                <a:lnTo>
                  <a:pt x="47625" y="63500"/>
                </a:lnTo>
                <a:close/>
                <a:moveTo>
                  <a:pt x="0" y="194469"/>
                </a:move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194469"/>
                </a:lnTo>
                <a:lnTo>
                  <a:pt x="311150" y="342106"/>
                </a:lnTo>
                <a:cubicBezTo>
                  <a:pt x="277316" y="367506"/>
                  <a:pt x="230684" y="367506"/>
                  <a:pt x="196850" y="342106"/>
                </a:cubicBezTo>
                <a:lnTo>
                  <a:pt x="0" y="194469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1905000" y="6731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 Layer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05000" y="70739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email system for price alerts and trip reminders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01000" y="7556500"/>
            <a:ext cx="0" cy="31750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62000" y="7874000"/>
            <a:ext cx="14732000" cy="508000"/>
          </a:xfrm>
          <a:prstGeom prst="roundRect">
            <a:avLst>
              <a:gd name="adj" fmla="val 10000"/>
            </a:avLst>
          </a:prstGeom>
          <a:solidFill>
            <a:srgbClr val="D4AF37">
              <a:alpha val="823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7962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2879" y="11787"/>
                </a:moveTo>
                <a:cubicBezTo>
                  <a:pt x="175855" y="4643"/>
                  <a:pt x="182820" y="0"/>
                  <a:pt x="190500" y="0"/>
                </a:cubicBezTo>
                <a:lnTo>
                  <a:pt x="285750" y="0"/>
                </a:lnTo>
                <a:cubicBezTo>
                  <a:pt x="296287" y="0"/>
                  <a:pt x="304800" y="8513"/>
                  <a:pt x="304800" y="19050"/>
                </a:cubicBezTo>
                <a:lnTo>
                  <a:pt x="304800" y="114300"/>
                </a:lnTo>
                <a:cubicBezTo>
                  <a:pt x="304800" y="121980"/>
                  <a:pt x="300157" y="128945"/>
                  <a:pt x="293013" y="131921"/>
                </a:cubicBezTo>
                <a:cubicBezTo>
                  <a:pt x="285869" y="134898"/>
                  <a:pt x="277713" y="133231"/>
                  <a:pt x="272236" y="127814"/>
                </a:cubicBezTo>
                <a:lnTo>
                  <a:pt x="238125" y="93643"/>
                </a:lnTo>
                <a:lnTo>
                  <a:pt x="146804" y="184904"/>
                </a:lnTo>
                <a:cubicBezTo>
                  <a:pt x="139363" y="192345"/>
                  <a:pt x="127278" y="192345"/>
                  <a:pt x="119836" y="184904"/>
                </a:cubicBezTo>
                <a:cubicBezTo>
                  <a:pt x="112395" y="177463"/>
                  <a:pt x="112395" y="165378"/>
                  <a:pt x="119836" y="157936"/>
                </a:cubicBezTo>
                <a:lnTo>
                  <a:pt x="211157" y="66675"/>
                </a:lnTo>
                <a:lnTo>
                  <a:pt x="177046" y="32504"/>
                </a:lnTo>
                <a:cubicBezTo>
                  <a:pt x="171569" y="27027"/>
                  <a:pt x="169962" y="18871"/>
                  <a:pt x="172938" y="11728"/>
                </a:cubicBezTo>
                <a:close/>
                <a:moveTo>
                  <a:pt x="0" y="104775"/>
                </a:moveTo>
                <a:cubicBezTo>
                  <a:pt x="0" y="78462"/>
                  <a:pt x="21312" y="57150"/>
                  <a:pt x="47625" y="57150"/>
                </a:cubicBezTo>
                <a:lnTo>
                  <a:pt x="95250" y="57150"/>
                </a:lnTo>
                <a:cubicBezTo>
                  <a:pt x="105787" y="57150"/>
                  <a:pt x="114300" y="65663"/>
                  <a:pt x="114300" y="76200"/>
                </a:cubicBezTo>
                <a:cubicBezTo>
                  <a:pt x="114300" y="86737"/>
                  <a:pt x="105787" y="95250"/>
                  <a:pt x="95250" y="95250"/>
                </a:cubicBezTo>
                <a:lnTo>
                  <a:pt x="47625" y="95250"/>
                </a:lnTo>
                <a:cubicBezTo>
                  <a:pt x="42386" y="95250"/>
                  <a:pt x="38100" y="99536"/>
                  <a:pt x="38100" y="104775"/>
                </a:cubicBezTo>
                <a:lnTo>
                  <a:pt x="38100" y="257175"/>
                </a:lnTo>
                <a:cubicBezTo>
                  <a:pt x="38100" y="262414"/>
                  <a:pt x="42386" y="266700"/>
                  <a:pt x="47625" y="266700"/>
                </a:cubicBezTo>
                <a:lnTo>
                  <a:pt x="200025" y="266700"/>
                </a:lnTo>
                <a:cubicBezTo>
                  <a:pt x="205264" y="266700"/>
                  <a:pt x="209550" y="262414"/>
                  <a:pt x="209550" y="257175"/>
                </a:cubicBezTo>
                <a:lnTo>
                  <a:pt x="209550" y="209550"/>
                </a:lnTo>
                <a:cubicBezTo>
                  <a:pt x="209550" y="199013"/>
                  <a:pt x="218063" y="190500"/>
                  <a:pt x="228600" y="190500"/>
                </a:cubicBezTo>
                <a:cubicBezTo>
                  <a:pt x="239137" y="190500"/>
                  <a:pt x="247650" y="199013"/>
                  <a:pt x="247650" y="209550"/>
                </a:cubicBezTo>
                <a:lnTo>
                  <a:pt x="247650" y="257175"/>
                </a:lnTo>
                <a:cubicBezTo>
                  <a:pt x="247650" y="283488"/>
                  <a:pt x="226338" y="304800"/>
                  <a:pt x="200025" y="304800"/>
                </a:cubicBezTo>
                <a:lnTo>
                  <a:pt x="47625" y="304800"/>
                </a:lnTo>
                <a:cubicBezTo>
                  <a:pt x="21312" y="304800"/>
                  <a:pt x="0" y="283488"/>
                  <a:pt x="0" y="257175"/>
                </a:cubicBezTo>
                <a:lnTo>
                  <a:pt x="0" y="10477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1651000" y="7874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Booking Layer  |  Seamless redirect to partner websites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8"/>
          <p:cNvSpPr/>
          <p:nvPr/>
        </p:nvSpPr>
        <p:spPr>
          <a:xfrm>
            <a:off x="12954000" y="876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Technology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667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667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Traveler Searches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3048000"/>
            <a:ext cx="635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191000" y="2667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1000" y="2667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APIs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3048000"/>
            <a:ext cx="635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620000" y="2667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0" y="2667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Results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287000" y="3048000"/>
            <a:ext cx="635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1049000" y="2667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49000" y="2667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 to User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19000" y="3683000"/>
            <a:ext cx="0" cy="50800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arrow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1049000" y="4318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49000" y="4318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Redirect to Book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287000" y="4699000"/>
            <a:ext cx="635000" cy="0"/>
          </a:xfrm>
          <a:prstGeom prst="straightConnector1">
            <a:avLst/>
          </a:prstGeom>
          <a:noFill/>
          <a:ln w="25400">
            <a:solidFill>
              <a:srgbClr val="6B6B65"/>
            </a:solidFill>
            <a:prstDash val="dash"/>
            <a:headEnd type="arrow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620000" y="4318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D4AF37">
              <a:alpha val="823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0" y="4318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Prices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90000" y="5334000"/>
            <a:ext cx="0" cy="508000"/>
          </a:xfrm>
          <a:prstGeom prst="straightConnector1">
            <a:avLst/>
          </a:prstGeom>
          <a:noFill/>
          <a:ln w="25400">
            <a:solidFill>
              <a:srgbClr val="6B6B65"/>
            </a:solidFill>
            <a:prstDash val="dash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620000" y="5969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D4AF37">
              <a:alpha val="823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0" y="5969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 Alerts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4318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processes continue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the user leaves: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Price monitoring for tracked routes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Email notifications on fare changes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Trip reminders as departure approaches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12954000" y="876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Technology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2_Nighttime_Rainy_Airport_Runway_with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ELEVEN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Reliability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is everything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RELIABILITY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First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4765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store payment information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All redirects use HTTPS encryption. User data is protected with industry-standard security practices.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445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safest transaction is the one we do not handle.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571500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lnTo>
                  <a:pt x="152400" y="142875"/>
                </a:lnTo>
                <a:lnTo>
                  <a:pt x="304800" y="142875"/>
                </a:lnTo>
                <a:lnTo>
                  <a:pt x="304800" y="85725"/>
                </a:lnTo>
                <a:cubicBezTo>
                  <a:pt x="304800" y="54203"/>
                  <a:pt x="270629" y="28575"/>
                  <a:pt x="228600" y="28575"/>
                </a:cubicBezTo>
                <a:cubicBezTo>
                  <a:pt x="186571" y="28575"/>
                  <a:pt x="152400" y="54203"/>
                  <a:pt x="152400" y="85725"/>
                </a:cubicBezTo>
                <a:close/>
                <a:moveTo>
                  <a:pt x="76200" y="142875"/>
                </a:moveTo>
                <a:lnTo>
                  <a:pt x="76200" y="85725"/>
                </a:lnTo>
                <a:cubicBezTo>
                  <a:pt x="76200" y="22592"/>
                  <a:pt x="144423" y="-28575"/>
                  <a:pt x="228600" y="-28575"/>
                </a:cubicBezTo>
                <a:cubicBezTo>
                  <a:pt x="312777" y="-28575"/>
                  <a:pt x="381000" y="22592"/>
                  <a:pt x="381000" y="85725"/>
                </a:cubicBezTo>
                <a:lnTo>
                  <a:pt x="381000" y="142875"/>
                </a:lnTo>
                <a:cubicBezTo>
                  <a:pt x="423029" y="142875"/>
                  <a:pt x="457200" y="168503"/>
                  <a:pt x="457200" y="2000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34171" y="142875"/>
                  <a:pt x="76200" y="14287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6680200"/>
            <a:ext cx="266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Payment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70612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never store card details or process payments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571500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3000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4953000" y="6680200"/>
            <a:ext cx="266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Encryption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53000" y="70612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redirects and data transfers are encrypted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2476500"/>
            <a:ext cx="6350000" cy="55245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38000" y="3556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4699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Security Promise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52000" y="5334000"/>
            <a:ext cx="533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No financial data collected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HTTPS on all connections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Industry-standard practices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Transparent data handling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11938000" y="8763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Security &amp; Reliability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RELIABILITY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 &amp; Availability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540000"/>
            <a:ext cx="50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62000" y="38100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SLA commitment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4699000"/>
            <a:ext cx="6985000" cy="1524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08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428625"/>
                </a:moveTo>
                <a:cubicBezTo>
                  <a:pt x="51197" y="428625"/>
                  <a:pt x="0" y="371029"/>
                  <a:pt x="0" y="300038"/>
                </a:cubicBezTo>
                <a:cubicBezTo>
                  <a:pt x="0" y="243423"/>
                  <a:pt x="32544" y="195382"/>
                  <a:pt x="77708" y="178147"/>
                </a:cubicBezTo>
                <a:cubicBezTo>
                  <a:pt x="76676" y="171271"/>
                  <a:pt x="76200" y="164306"/>
                  <a:pt x="76200" y="157163"/>
                </a:cubicBezTo>
                <a:cubicBezTo>
                  <a:pt x="76200" y="86171"/>
                  <a:pt x="127397" y="28575"/>
                  <a:pt x="190500" y="28575"/>
                </a:cubicBezTo>
                <a:cubicBezTo>
                  <a:pt x="234474" y="28575"/>
                  <a:pt x="272653" y="56525"/>
                  <a:pt x="291783" y="97423"/>
                </a:cubicBezTo>
                <a:cubicBezTo>
                  <a:pt x="303054" y="90011"/>
                  <a:pt x="316230" y="85725"/>
                  <a:pt x="330200" y="85725"/>
                </a:cubicBezTo>
                <a:cubicBezTo>
                  <a:pt x="372269" y="85725"/>
                  <a:pt x="406400" y="124123"/>
                  <a:pt x="406400" y="171450"/>
                </a:cubicBezTo>
                <a:cubicBezTo>
                  <a:pt x="406400" y="185470"/>
                  <a:pt x="403384" y="198775"/>
                  <a:pt x="398066" y="210473"/>
                </a:cubicBezTo>
                <a:cubicBezTo>
                  <a:pt x="432991" y="228600"/>
                  <a:pt x="457200" y="268248"/>
                  <a:pt x="457200" y="314325"/>
                </a:cubicBezTo>
                <a:cubicBezTo>
                  <a:pt x="457200" y="377458"/>
                  <a:pt x="411718" y="428625"/>
                  <a:pt x="355600" y="428625"/>
                </a:cubicBezTo>
                <a:lnTo>
                  <a:pt x="114300" y="428625"/>
                </a:lnTo>
                <a:close/>
                <a:moveTo>
                  <a:pt x="242094" y="170557"/>
                </a:moveTo>
                <a:cubicBezTo>
                  <a:pt x="234633" y="162163"/>
                  <a:pt x="222567" y="162163"/>
                  <a:pt x="215186" y="170557"/>
                </a:cubicBezTo>
                <a:lnTo>
                  <a:pt x="158036" y="234851"/>
                </a:lnTo>
                <a:cubicBezTo>
                  <a:pt x="150574" y="243245"/>
                  <a:pt x="150574" y="256818"/>
                  <a:pt x="158036" y="265122"/>
                </a:cubicBezTo>
                <a:cubicBezTo>
                  <a:pt x="165497" y="273427"/>
                  <a:pt x="177562" y="273516"/>
                  <a:pt x="184944" y="265122"/>
                </a:cubicBezTo>
                <a:lnTo>
                  <a:pt x="209550" y="237440"/>
                </a:lnTo>
                <a:lnTo>
                  <a:pt x="209550" y="328613"/>
                </a:lnTo>
                <a:cubicBezTo>
                  <a:pt x="209550" y="340489"/>
                  <a:pt x="218043" y="350044"/>
                  <a:pt x="228600" y="350044"/>
                </a:cubicBezTo>
                <a:cubicBezTo>
                  <a:pt x="239157" y="350044"/>
                  <a:pt x="247650" y="340489"/>
                  <a:pt x="247650" y="328613"/>
                </a:cubicBezTo>
                <a:lnTo>
                  <a:pt x="247650" y="237440"/>
                </a:lnTo>
                <a:lnTo>
                  <a:pt x="272256" y="265122"/>
                </a:lnTo>
                <a:cubicBezTo>
                  <a:pt x="279717" y="273516"/>
                  <a:pt x="291783" y="273516"/>
                  <a:pt x="299164" y="265122"/>
                </a:cubicBezTo>
                <a:cubicBezTo>
                  <a:pt x="306546" y="256729"/>
                  <a:pt x="306626" y="243155"/>
                  <a:pt x="299164" y="234851"/>
                </a:cubicBezTo>
                <a:lnTo>
                  <a:pt x="242014" y="170557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841500" y="5054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41500" y="5435600"/>
            <a:ext cx="546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 handles traffic spikes during peak seasons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477000"/>
            <a:ext cx="6985000" cy="1524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685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1841500" y="6832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Redundant APIs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41500" y="72136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data sources ensure search results are always available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82000" y="2540000"/>
            <a:ext cx="7112000" cy="5461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0000" y="30480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 Stack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90000" y="3810000"/>
            <a:ext cx="6096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Cloud infrastructure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99.9% uptime SLA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Auto-scaling capabilities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Redundant API connections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Database backups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Disaster recovery protocols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20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Always there when needed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1938000" y="8763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Security &amp; Reliability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RELIABILITY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4765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 architecture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allows independent scaling of search, notification, and user management components.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 layers reduce API costs and improve response times.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62000" y="4318000"/>
          <a:ext cx="76200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9144000" y="2476500"/>
            <a:ext cx="6350000" cy="56515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52000" y="3048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Strategy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652000" y="3810000"/>
            <a:ext cx="533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Microservices architecture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Independent component scaling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Multi-layer caching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From 100s to millions of searches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No architectural changes needed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Cost-optimized API usage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11938000" y="8763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Security &amp; Reliability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3_Airplane_flying_through_thick_clouds.png">    </p:cNvPr>
          <p:cNvPicPr>
            <a:picLocks noChangeAspect="1"/>
          </p:cNvPicPr>
          <p:nvPr/>
        </p:nvPicPr>
        <p:blipFill>
          <a:blip r:embed="rId1"/>
          <a:srcRect l="78" r="7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TWELVE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SkyScan is headed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29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Foundation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0" y="196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Q1 - Q2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476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921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30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7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Flight Search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4254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and comparison engine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42000" y="2921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3000" y="330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797" y="76200"/>
                </a:moveTo>
                <a:lnTo>
                  <a:pt x="25797" y="194866"/>
                </a:lnTo>
                <a:cubicBezTo>
                  <a:pt x="25797" y="208359"/>
                  <a:pt x="31115" y="221298"/>
                  <a:pt x="40640" y="230823"/>
                </a:cubicBezTo>
                <a:lnTo>
                  <a:pt x="193040" y="383223"/>
                </a:lnTo>
                <a:cubicBezTo>
                  <a:pt x="212884" y="403066"/>
                  <a:pt x="245031" y="403066"/>
                  <a:pt x="264874" y="383223"/>
                </a:cubicBezTo>
                <a:lnTo>
                  <a:pt x="383540" y="264557"/>
                </a:lnTo>
                <a:cubicBezTo>
                  <a:pt x="403384" y="244713"/>
                  <a:pt x="403384" y="212566"/>
                  <a:pt x="383540" y="192723"/>
                </a:cubicBezTo>
                <a:lnTo>
                  <a:pt x="231140" y="40323"/>
                </a:lnTo>
                <a:cubicBezTo>
                  <a:pt x="221615" y="30718"/>
                  <a:pt x="208756" y="25400"/>
                  <a:pt x="195263" y="25400"/>
                </a:cubicBezTo>
                <a:lnTo>
                  <a:pt x="76597" y="25400"/>
                </a:lnTo>
                <a:cubicBezTo>
                  <a:pt x="48578" y="25400"/>
                  <a:pt x="25797" y="48181"/>
                  <a:pt x="25797" y="76200"/>
                </a:cubicBezTo>
                <a:close/>
                <a:moveTo>
                  <a:pt x="114697" y="88900"/>
                </a:moveTo>
                <a:cubicBezTo>
                  <a:pt x="128716" y="88900"/>
                  <a:pt x="140097" y="100281"/>
                  <a:pt x="140097" y="114300"/>
                </a:cubicBezTo>
                <a:cubicBezTo>
                  <a:pt x="140097" y="128319"/>
                  <a:pt x="128716" y="139700"/>
                  <a:pt x="114697" y="139700"/>
                </a:cubicBezTo>
                <a:cubicBezTo>
                  <a:pt x="100678" y="139700"/>
                  <a:pt x="89297" y="128319"/>
                  <a:pt x="89297" y="114300"/>
                </a:cubicBezTo>
                <a:cubicBezTo>
                  <a:pt x="89297" y="100281"/>
                  <a:pt x="100678" y="88900"/>
                  <a:pt x="114697" y="889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387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Drop Alerts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23000" y="4254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notifications for fare changes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22000" y="2921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03000" y="330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8460" y="-20876"/>
                </a:moveTo>
                <a:cubicBezTo>
                  <a:pt x="385374" y="-23654"/>
                  <a:pt x="392994" y="-21669"/>
                  <a:pt x="398216" y="-15875"/>
                </a:cubicBezTo>
                <a:cubicBezTo>
                  <a:pt x="403437" y="-10081"/>
                  <a:pt x="405130" y="-1429"/>
                  <a:pt x="402661" y="6350"/>
                </a:cubicBezTo>
                <a:lnTo>
                  <a:pt x="277072" y="400764"/>
                </a:lnTo>
                <a:cubicBezTo>
                  <a:pt x="273544" y="411797"/>
                  <a:pt x="264301" y="419100"/>
                  <a:pt x="253929" y="419100"/>
                </a:cubicBezTo>
                <a:cubicBezTo>
                  <a:pt x="243911" y="419100"/>
                  <a:pt x="234879" y="412274"/>
                  <a:pt x="231140" y="401876"/>
                </a:cubicBezTo>
                <a:lnTo>
                  <a:pt x="185843" y="276463"/>
                </a:lnTo>
                <a:cubicBezTo>
                  <a:pt x="182668" y="267732"/>
                  <a:pt x="184079" y="257731"/>
                  <a:pt x="189512" y="250587"/>
                </a:cubicBezTo>
                <a:lnTo>
                  <a:pt x="256187" y="161369"/>
                </a:lnTo>
                <a:cubicBezTo>
                  <a:pt x="259786" y="156528"/>
                  <a:pt x="259503" y="149463"/>
                  <a:pt x="255552" y="145018"/>
                </a:cubicBezTo>
                <a:cubicBezTo>
                  <a:pt x="251601" y="140573"/>
                  <a:pt x="245251" y="140256"/>
                  <a:pt x="241018" y="144304"/>
                </a:cubicBezTo>
                <a:lnTo>
                  <a:pt x="161713" y="219154"/>
                </a:lnTo>
                <a:cubicBezTo>
                  <a:pt x="155293" y="225187"/>
                  <a:pt x="146473" y="226774"/>
                  <a:pt x="138712" y="223282"/>
                </a:cubicBezTo>
                <a:lnTo>
                  <a:pt x="26882" y="172085"/>
                </a:lnTo>
                <a:cubicBezTo>
                  <a:pt x="17639" y="167878"/>
                  <a:pt x="11571" y="157718"/>
                  <a:pt x="11571" y="146447"/>
                </a:cubicBezTo>
                <a:cubicBezTo>
                  <a:pt x="11571" y="134779"/>
                  <a:pt x="18062" y="124381"/>
                  <a:pt x="27869" y="120412"/>
                </a:cubicBezTo>
                <a:lnTo>
                  <a:pt x="378460" y="-20876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387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 Reminders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303000" y="4254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Pre-departure email system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5080000"/>
            <a:ext cx="6858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9724" y="67628"/>
                </a:moveTo>
                <a:lnTo>
                  <a:pt x="107456" y="170498"/>
                </a:lnTo>
                <a:cubicBezTo>
                  <a:pt x="104211" y="174546"/>
                  <a:pt x="104352" y="180816"/>
                  <a:pt x="107809" y="184706"/>
                </a:cubicBezTo>
                <a:cubicBezTo>
                  <a:pt x="129328" y="208915"/>
                  <a:pt x="164253" y="208915"/>
                  <a:pt x="185773" y="184706"/>
                </a:cubicBezTo>
                <a:lnTo>
                  <a:pt x="208209" y="159464"/>
                </a:lnTo>
                <a:cubicBezTo>
                  <a:pt x="211173" y="156131"/>
                  <a:pt x="214912" y="154305"/>
                  <a:pt x="218722" y="153988"/>
                </a:cubicBezTo>
                <a:cubicBezTo>
                  <a:pt x="223520" y="153511"/>
                  <a:pt x="228459" y="155337"/>
                  <a:pt x="232128" y="159464"/>
                </a:cubicBezTo>
                <a:lnTo>
                  <a:pt x="356729" y="298450"/>
                </a:lnTo>
                <a:lnTo>
                  <a:pt x="406400" y="254000"/>
                </a:lnTo>
                <a:lnTo>
                  <a:pt x="406400" y="25400"/>
                </a:lnTo>
                <a:lnTo>
                  <a:pt x="327378" y="76200"/>
                </a:lnTo>
                <a:lnTo>
                  <a:pt x="310586" y="63579"/>
                </a:lnTo>
                <a:cubicBezTo>
                  <a:pt x="299438" y="55245"/>
                  <a:pt x="286385" y="50800"/>
                  <a:pt x="272979" y="50800"/>
                </a:cubicBezTo>
                <a:lnTo>
                  <a:pt x="223308" y="50800"/>
                </a:lnTo>
                <a:cubicBezTo>
                  <a:pt x="222532" y="50800"/>
                  <a:pt x="221686" y="50800"/>
                  <a:pt x="220909" y="50879"/>
                </a:cubicBezTo>
                <a:cubicBezTo>
                  <a:pt x="208986" y="51594"/>
                  <a:pt x="197767" y="57626"/>
                  <a:pt x="189724" y="67627"/>
                </a:cubicBezTo>
                <a:close/>
                <a:moveTo>
                  <a:pt x="82268" y="145018"/>
                </a:moveTo>
                <a:lnTo>
                  <a:pt x="157621" y="50800"/>
                </a:lnTo>
                <a:lnTo>
                  <a:pt x="129681" y="50800"/>
                </a:lnTo>
                <a:cubicBezTo>
                  <a:pt x="111689" y="50800"/>
                  <a:pt x="94474" y="58817"/>
                  <a:pt x="81774" y="73104"/>
                </a:cubicBezTo>
                <a:lnTo>
                  <a:pt x="79022" y="76200"/>
                </a:lnTo>
                <a:lnTo>
                  <a:pt x="0" y="25400"/>
                </a:lnTo>
                <a:lnTo>
                  <a:pt x="0" y="254000"/>
                </a:lnTo>
                <a:lnTo>
                  <a:pt x="110349" y="357426"/>
                </a:lnTo>
                <a:cubicBezTo>
                  <a:pt x="126577" y="372666"/>
                  <a:pt x="147038" y="381000"/>
                  <a:pt x="168134" y="381000"/>
                </a:cubicBezTo>
                <a:lnTo>
                  <a:pt x="179211" y="381000"/>
                </a:lnTo>
                <a:lnTo>
                  <a:pt x="174272" y="375444"/>
                </a:lnTo>
                <a:cubicBezTo>
                  <a:pt x="167640" y="367983"/>
                  <a:pt x="167640" y="355918"/>
                  <a:pt x="174272" y="348536"/>
                </a:cubicBezTo>
                <a:cubicBezTo>
                  <a:pt x="180904" y="341154"/>
                  <a:pt x="191629" y="341074"/>
                  <a:pt x="198191" y="348536"/>
                </a:cubicBezTo>
                <a:lnTo>
                  <a:pt x="227118" y="381079"/>
                </a:lnTo>
                <a:lnTo>
                  <a:pt x="233468" y="381079"/>
                </a:lnTo>
                <a:cubicBezTo>
                  <a:pt x="246944" y="381079"/>
                  <a:pt x="260138" y="377666"/>
                  <a:pt x="272133" y="371316"/>
                </a:cubicBezTo>
                <a:lnTo>
                  <a:pt x="253294" y="350044"/>
                </a:lnTo>
                <a:cubicBezTo>
                  <a:pt x="246662" y="342583"/>
                  <a:pt x="246662" y="330518"/>
                  <a:pt x="253294" y="323136"/>
                </a:cubicBezTo>
                <a:cubicBezTo>
                  <a:pt x="259927" y="315754"/>
                  <a:pt x="270651" y="315674"/>
                  <a:pt x="277213" y="323136"/>
                </a:cubicBezTo>
                <a:lnTo>
                  <a:pt x="299791" y="348536"/>
                </a:lnTo>
                <a:lnTo>
                  <a:pt x="312138" y="334645"/>
                </a:lnTo>
                <a:cubicBezTo>
                  <a:pt x="318417" y="327581"/>
                  <a:pt x="320252" y="317341"/>
                  <a:pt x="317500" y="308372"/>
                </a:cubicBezTo>
                <a:lnTo>
                  <a:pt x="220204" y="199787"/>
                </a:lnTo>
                <a:lnTo>
                  <a:pt x="209691" y="211614"/>
                </a:lnTo>
                <a:cubicBezTo>
                  <a:pt x="174907" y="250746"/>
                  <a:pt x="118604" y="250746"/>
                  <a:pt x="83820" y="211614"/>
                </a:cubicBezTo>
                <a:cubicBezTo>
                  <a:pt x="67592" y="193357"/>
                  <a:pt x="66957" y="164068"/>
                  <a:pt x="82268" y="144939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032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Affiliate Partnerships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64135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with airlines and OTAs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8000" y="5080000"/>
            <a:ext cx="7366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9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0933" y="114300"/>
                </a:moveTo>
                <a:cubicBezTo>
                  <a:pt x="270933" y="191452"/>
                  <a:pt x="210256" y="254000"/>
                  <a:pt x="135467" y="254000"/>
                </a:cubicBezTo>
                <a:cubicBezTo>
                  <a:pt x="116628" y="254000"/>
                  <a:pt x="98707" y="250031"/>
                  <a:pt x="82409" y="242888"/>
                </a:cubicBezTo>
                <a:lnTo>
                  <a:pt x="24836" y="277178"/>
                </a:lnTo>
                <a:cubicBezTo>
                  <a:pt x="18274" y="281067"/>
                  <a:pt x="10231" y="279717"/>
                  <a:pt x="4939" y="273844"/>
                </a:cubicBezTo>
                <a:cubicBezTo>
                  <a:pt x="-353" y="267970"/>
                  <a:pt x="-1552" y="258842"/>
                  <a:pt x="1976" y="251460"/>
                </a:cubicBezTo>
                <a:lnTo>
                  <a:pt x="27093" y="198120"/>
                </a:lnTo>
                <a:cubicBezTo>
                  <a:pt x="10089" y="174784"/>
                  <a:pt x="0" y="145733"/>
                  <a:pt x="0" y="114300"/>
                </a:cubicBezTo>
                <a:cubicBezTo>
                  <a:pt x="0" y="37147"/>
                  <a:pt x="60678" y="-25400"/>
                  <a:pt x="135467" y="-25400"/>
                </a:cubicBezTo>
                <a:cubicBezTo>
                  <a:pt x="210256" y="-25400"/>
                  <a:pt x="270933" y="37147"/>
                  <a:pt x="270933" y="114300"/>
                </a:cubicBezTo>
                <a:close/>
                <a:moveTo>
                  <a:pt x="270933" y="406400"/>
                </a:moveTo>
                <a:cubicBezTo>
                  <a:pt x="204541" y="406400"/>
                  <a:pt x="149296" y="357108"/>
                  <a:pt x="137724" y="292100"/>
                </a:cubicBezTo>
                <a:cubicBezTo>
                  <a:pt x="222391" y="290909"/>
                  <a:pt x="295981" y="223123"/>
                  <a:pt x="304094" y="131207"/>
                </a:cubicBezTo>
                <a:cubicBezTo>
                  <a:pt x="362867" y="146447"/>
                  <a:pt x="406400" y="201295"/>
                  <a:pt x="406400" y="266700"/>
                </a:cubicBezTo>
                <a:cubicBezTo>
                  <a:pt x="406400" y="298133"/>
                  <a:pt x="396311" y="327184"/>
                  <a:pt x="379307" y="350520"/>
                </a:cubicBezTo>
                <a:lnTo>
                  <a:pt x="404424" y="403860"/>
                </a:lnTo>
                <a:cubicBezTo>
                  <a:pt x="407882" y="411242"/>
                  <a:pt x="406682" y="420291"/>
                  <a:pt x="401461" y="426244"/>
                </a:cubicBezTo>
                <a:cubicBezTo>
                  <a:pt x="396240" y="432197"/>
                  <a:pt x="388126" y="433546"/>
                  <a:pt x="381564" y="429578"/>
                </a:cubicBezTo>
                <a:lnTo>
                  <a:pt x="323991" y="395288"/>
                </a:lnTo>
                <a:cubicBezTo>
                  <a:pt x="307693" y="402431"/>
                  <a:pt x="289772" y="406400"/>
                  <a:pt x="270933" y="4064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8509000" y="6032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Feedback Loop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9000" y="64135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 feedback and iterate rapidly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7366000"/>
            <a:ext cx="2540000" cy="571500"/>
          </a:xfrm>
          <a:prstGeom prst="roundRect">
            <a:avLst>
              <a:gd name="adj" fmla="val 14000"/>
            </a:avLst>
          </a:prstGeom>
          <a:solidFill>
            <a:srgbClr val="22C55E">
              <a:alpha val="12549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000" y="7366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Future Roadmap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29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Intelligence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0" y="196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Q3 - Q4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476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921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30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7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Recommendations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4254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flight suggestions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42000" y="2921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3000" y="330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387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Prediction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23000" y="4254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Advise optimal booking timing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22000" y="2921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03000" y="330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76200"/>
                </a:moveTo>
                <a:cubicBezTo>
                  <a:pt x="406400" y="116046"/>
                  <a:pt x="359489" y="175498"/>
                  <a:pt x="339249" y="199231"/>
                </a:cubicBezTo>
                <a:cubicBezTo>
                  <a:pt x="336233" y="202724"/>
                  <a:pt x="331788" y="204073"/>
                  <a:pt x="327739" y="203200"/>
                </a:cubicBezTo>
                <a:lnTo>
                  <a:pt x="254000" y="203200"/>
                </a:lnTo>
                <a:cubicBezTo>
                  <a:pt x="239951" y="203200"/>
                  <a:pt x="228600" y="214551"/>
                  <a:pt x="228600" y="228600"/>
                </a:cubicBezTo>
                <a:cubicBezTo>
                  <a:pt x="228600" y="242649"/>
                  <a:pt x="239951" y="254000"/>
                  <a:pt x="254000" y="254000"/>
                </a:cubicBezTo>
                <a:lnTo>
                  <a:pt x="330200" y="254000"/>
                </a:lnTo>
                <a:cubicBezTo>
                  <a:pt x="372269" y="254000"/>
                  <a:pt x="406400" y="288131"/>
                  <a:pt x="406400" y="330200"/>
                </a:cubicBezTo>
                <a:cubicBezTo>
                  <a:pt x="406400" y="372269"/>
                  <a:pt x="372269" y="406400"/>
                  <a:pt x="330200" y="406400"/>
                </a:cubicBezTo>
                <a:lnTo>
                  <a:pt x="110808" y="406400"/>
                </a:lnTo>
                <a:cubicBezTo>
                  <a:pt x="117713" y="398542"/>
                  <a:pt x="126127" y="388461"/>
                  <a:pt x="134620" y="377190"/>
                </a:cubicBezTo>
                <a:cubicBezTo>
                  <a:pt x="139621" y="370523"/>
                  <a:pt x="144780" y="363220"/>
                  <a:pt x="149701" y="355600"/>
                </a:cubicBezTo>
                <a:lnTo>
                  <a:pt x="330200" y="355600"/>
                </a:lnTo>
                <a:cubicBezTo>
                  <a:pt x="344249" y="355600"/>
                  <a:pt x="355600" y="344249"/>
                  <a:pt x="355600" y="330200"/>
                </a:cubicBezTo>
                <a:cubicBezTo>
                  <a:pt x="355600" y="316151"/>
                  <a:pt x="344249" y="304800"/>
                  <a:pt x="330200" y="304800"/>
                </a:cubicBezTo>
                <a:lnTo>
                  <a:pt x="254000" y="304800"/>
                </a:lnTo>
                <a:cubicBezTo>
                  <a:pt x="211931" y="304800"/>
                  <a:pt x="177800" y="270669"/>
                  <a:pt x="177800" y="228600"/>
                </a:cubicBezTo>
                <a:cubicBezTo>
                  <a:pt x="177800" y="186531"/>
                  <a:pt x="211931" y="152400"/>
                  <a:pt x="254000" y="152400"/>
                </a:cubicBezTo>
                <a:lnTo>
                  <a:pt x="285591" y="152400"/>
                </a:lnTo>
                <a:cubicBezTo>
                  <a:pt x="268923" y="127397"/>
                  <a:pt x="254000" y="98663"/>
                  <a:pt x="254000" y="76200"/>
                </a:cubicBezTo>
                <a:cubicBezTo>
                  <a:pt x="254000" y="34131"/>
                  <a:pt x="288131" y="0"/>
                  <a:pt x="330200" y="0"/>
                </a:cubicBezTo>
                <a:cubicBezTo>
                  <a:pt x="372269" y="0"/>
                  <a:pt x="406400" y="34131"/>
                  <a:pt x="406400" y="76200"/>
                </a:cubicBezTo>
                <a:close/>
                <a:moveTo>
                  <a:pt x="92948" y="388223"/>
                </a:moveTo>
                <a:cubicBezTo>
                  <a:pt x="89932" y="391636"/>
                  <a:pt x="87233" y="394653"/>
                  <a:pt x="84931" y="397193"/>
                </a:cubicBezTo>
                <a:lnTo>
                  <a:pt x="83503" y="398780"/>
                </a:lnTo>
                <a:lnTo>
                  <a:pt x="83344" y="398621"/>
                </a:lnTo>
                <a:cubicBezTo>
                  <a:pt x="78581" y="402273"/>
                  <a:pt x="71755" y="401796"/>
                  <a:pt x="67469" y="397193"/>
                </a:cubicBezTo>
                <a:cubicBezTo>
                  <a:pt x="47466" y="375444"/>
                  <a:pt x="0" y="319484"/>
                  <a:pt x="0" y="279400"/>
                </a:cubicBezTo>
                <a:cubicBezTo>
                  <a:pt x="0" y="237331"/>
                  <a:pt x="34131" y="203200"/>
                  <a:pt x="76200" y="203200"/>
                </a:cubicBezTo>
                <a:cubicBezTo>
                  <a:pt x="118269" y="203200"/>
                  <a:pt x="152400" y="237331"/>
                  <a:pt x="152400" y="279400"/>
                </a:cubicBezTo>
                <a:cubicBezTo>
                  <a:pt x="152400" y="303213"/>
                  <a:pt x="135652" y="332581"/>
                  <a:pt x="117872" y="357108"/>
                </a:cubicBezTo>
                <a:cubicBezTo>
                  <a:pt x="109379" y="368776"/>
                  <a:pt x="100648" y="379333"/>
                  <a:pt x="93424" y="387668"/>
                </a:cubicBezTo>
                <a:lnTo>
                  <a:pt x="92948" y="388223"/>
                </a:lnTo>
                <a:close/>
                <a:moveTo>
                  <a:pt x="101600" y="279400"/>
                </a:moveTo>
                <a:cubicBezTo>
                  <a:pt x="101600" y="265381"/>
                  <a:pt x="90219" y="254000"/>
                  <a:pt x="76200" y="254000"/>
                </a:cubicBezTo>
                <a:cubicBezTo>
                  <a:pt x="62181" y="254000"/>
                  <a:pt x="50800" y="265381"/>
                  <a:pt x="50800" y="279400"/>
                </a:cubicBezTo>
                <a:cubicBezTo>
                  <a:pt x="50800" y="293419"/>
                  <a:pt x="62181" y="304800"/>
                  <a:pt x="76200" y="304800"/>
                </a:cubicBezTo>
                <a:cubicBezTo>
                  <a:pt x="90219" y="304800"/>
                  <a:pt x="101600" y="293419"/>
                  <a:pt x="101600" y="279400"/>
                </a:cubicBezTo>
                <a:close/>
                <a:moveTo>
                  <a:pt x="330200" y="101600"/>
                </a:moveTo>
                <a:cubicBezTo>
                  <a:pt x="344219" y="101600"/>
                  <a:pt x="355600" y="90219"/>
                  <a:pt x="355600" y="76200"/>
                </a:cubicBezTo>
                <a:cubicBezTo>
                  <a:pt x="355600" y="62181"/>
                  <a:pt x="344219" y="50800"/>
                  <a:pt x="330200" y="50800"/>
                </a:cubicBezTo>
                <a:cubicBezTo>
                  <a:pt x="316181" y="50800"/>
                  <a:pt x="304800" y="62181"/>
                  <a:pt x="304800" y="76200"/>
                </a:cubicBezTo>
                <a:cubicBezTo>
                  <a:pt x="304800" y="90219"/>
                  <a:pt x="316181" y="101600"/>
                  <a:pt x="330200" y="1016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387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Multi-City Search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303000" y="4254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itinerary support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5080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6933" y="50800"/>
                </a:moveTo>
                <a:cubicBezTo>
                  <a:pt x="16933" y="22781"/>
                  <a:pt x="47308" y="0"/>
                  <a:pt x="84667" y="0"/>
                </a:cubicBezTo>
                <a:lnTo>
                  <a:pt x="321733" y="0"/>
                </a:lnTo>
                <a:cubicBezTo>
                  <a:pt x="359093" y="0"/>
                  <a:pt x="389467" y="22781"/>
                  <a:pt x="389467" y="50800"/>
                </a:cubicBezTo>
                <a:lnTo>
                  <a:pt x="389467" y="355600"/>
                </a:lnTo>
                <a:cubicBezTo>
                  <a:pt x="389467" y="383619"/>
                  <a:pt x="359093" y="406400"/>
                  <a:pt x="321733" y="406400"/>
                </a:cubicBezTo>
                <a:lnTo>
                  <a:pt x="84667" y="406400"/>
                </a:lnTo>
                <a:cubicBezTo>
                  <a:pt x="47308" y="406400"/>
                  <a:pt x="16933" y="383619"/>
                  <a:pt x="16933" y="355600"/>
                </a:cubicBezTo>
                <a:lnTo>
                  <a:pt x="16933" y="50800"/>
                </a:lnTo>
                <a:close/>
                <a:moveTo>
                  <a:pt x="135467" y="349250"/>
                </a:moveTo>
                <a:cubicBezTo>
                  <a:pt x="135467" y="359807"/>
                  <a:pt x="146791" y="368300"/>
                  <a:pt x="160867" y="368300"/>
                </a:cubicBezTo>
                <a:lnTo>
                  <a:pt x="245533" y="368300"/>
                </a:lnTo>
                <a:cubicBezTo>
                  <a:pt x="259609" y="368300"/>
                  <a:pt x="270933" y="359807"/>
                  <a:pt x="270933" y="349250"/>
                </a:cubicBezTo>
                <a:cubicBezTo>
                  <a:pt x="270933" y="338693"/>
                  <a:pt x="259609" y="330200"/>
                  <a:pt x="245533" y="330200"/>
                </a:cubicBezTo>
                <a:lnTo>
                  <a:pt x="160867" y="330200"/>
                </a:lnTo>
                <a:cubicBezTo>
                  <a:pt x="146791" y="330200"/>
                  <a:pt x="135467" y="338693"/>
                  <a:pt x="135467" y="349250"/>
                </a:cubicBezTo>
                <a:close/>
                <a:moveTo>
                  <a:pt x="321733" y="50800"/>
                </a:moveTo>
                <a:lnTo>
                  <a:pt x="84667" y="50800"/>
                </a:lnTo>
                <a:lnTo>
                  <a:pt x="84667" y="292100"/>
                </a:lnTo>
                <a:lnTo>
                  <a:pt x="321733" y="292100"/>
                </a:lnTo>
                <a:lnTo>
                  <a:pt x="321733" y="508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032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Progressive Web App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6413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Mobile-responsive PWA for on-the-go flight search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7366000"/>
            <a:ext cx="2032000" cy="571500"/>
          </a:xfrm>
          <a:prstGeom prst="roundRect">
            <a:avLst>
              <a:gd name="adj" fmla="val 14000"/>
            </a:avLst>
          </a:prstGeom>
          <a:solidFill>
            <a:srgbClr val="D4AF37">
              <a:alpha val="823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73660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Future Roadmap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29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Expansion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0" y="196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 and Beyond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476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921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30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4667" y="0"/>
                </a:moveTo>
                <a:cubicBezTo>
                  <a:pt x="47308" y="0"/>
                  <a:pt x="16933" y="22781"/>
                  <a:pt x="16933" y="50800"/>
                </a:cubicBezTo>
                <a:lnTo>
                  <a:pt x="16933" y="355600"/>
                </a:lnTo>
                <a:cubicBezTo>
                  <a:pt x="16933" y="383619"/>
                  <a:pt x="47308" y="406400"/>
                  <a:pt x="84667" y="406400"/>
                </a:cubicBezTo>
                <a:lnTo>
                  <a:pt x="321733" y="406400"/>
                </a:lnTo>
                <a:cubicBezTo>
                  <a:pt x="359093" y="406400"/>
                  <a:pt x="389467" y="383619"/>
                  <a:pt x="389467" y="355600"/>
                </a:cubicBezTo>
                <a:lnTo>
                  <a:pt x="389467" y="50800"/>
                </a:lnTo>
                <a:cubicBezTo>
                  <a:pt x="389467" y="22781"/>
                  <a:pt x="359093" y="0"/>
                  <a:pt x="321733" y="0"/>
                </a:cubicBezTo>
                <a:lnTo>
                  <a:pt x="84667" y="0"/>
                </a:lnTo>
                <a:close/>
                <a:moveTo>
                  <a:pt x="160867" y="330200"/>
                </a:moveTo>
                <a:lnTo>
                  <a:pt x="245533" y="330200"/>
                </a:lnTo>
                <a:cubicBezTo>
                  <a:pt x="259609" y="330200"/>
                  <a:pt x="270933" y="338693"/>
                  <a:pt x="270933" y="349250"/>
                </a:cubicBezTo>
                <a:cubicBezTo>
                  <a:pt x="270933" y="359807"/>
                  <a:pt x="259609" y="368300"/>
                  <a:pt x="245533" y="368300"/>
                </a:cubicBezTo>
                <a:lnTo>
                  <a:pt x="160867" y="368300"/>
                </a:lnTo>
                <a:cubicBezTo>
                  <a:pt x="146791" y="368300"/>
                  <a:pt x="135467" y="359807"/>
                  <a:pt x="135467" y="349250"/>
                </a:cubicBezTo>
                <a:cubicBezTo>
                  <a:pt x="135467" y="338693"/>
                  <a:pt x="146791" y="330200"/>
                  <a:pt x="160867" y="3302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7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Mobile Apps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4254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 and Android applications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42000" y="2921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3000" y="330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0839" y="69215"/>
                </a:moveTo>
                <a:cubicBezTo>
                  <a:pt x="227330" y="63421"/>
                  <a:pt x="231422" y="54451"/>
                  <a:pt x="231422" y="44450"/>
                </a:cubicBezTo>
                <a:cubicBezTo>
                  <a:pt x="231422" y="26908"/>
                  <a:pt x="218793" y="12700"/>
                  <a:pt x="203200" y="12700"/>
                </a:cubicBezTo>
                <a:cubicBezTo>
                  <a:pt x="187607" y="12700"/>
                  <a:pt x="174978" y="26908"/>
                  <a:pt x="174978" y="44450"/>
                </a:cubicBezTo>
                <a:cubicBezTo>
                  <a:pt x="174978" y="54451"/>
                  <a:pt x="179141" y="63421"/>
                  <a:pt x="185561" y="69215"/>
                </a:cubicBezTo>
                <a:lnTo>
                  <a:pt x="137301" y="154623"/>
                </a:lnTo>
                <a:cubicBezTo>
                  <a:pt x="130246" y="167084"/>
                  <a:pt x="115217" y="170180"/>
                  <a:pt x="104704" y="161290"/>
                </a:cubicBezTo>
                <a:lnTo>
                  <a:pt x="62724" y="125968"/>
                </a:lnTo>
                <a:cubicBezTo>
                  <a:pt x="65899" y="120888"/>
                  <a:pt x="67733" y="114617"/>
                  <a:pt x="67733" y="107950"/>
                </a:cubicBezTo>
                <a:cubicBezTo>
                  <a:pt x="67733" y="90408"/>
                  <a:pt x="55104" y="76200"/>
                  <a:pt x="39511" y="76200"/>
                </a:cubicBezTo>
                <a:cubicBezTo>
                  <a:pt x="23918" y="76200"/>
                  <a:pt x="11289" y="90408"/>
                  <a:pt x="11289" y="107950"/>
                </a:cubicBezTo>
                <a:cubicBezTo>
                  <a:pt x="11289" y="125254"/>
                  <a:pt x="23636" y="139383"/>
                  <a:pt x="38947" y="139700"/>
                </a:cubicBezTo>
                <a:lnTo>
                  <a:pt x="61948" y="312341"/>
                </a:lnTo>
                <a:cubicBezTo>
                  <a:pt x="65264" y="337185"/>
                  <a:pt x="84243" y="355600"/>
                  <a:pt x="106609" y="355600"/>
                </a:cubicBezTo>
                <a:lnTo>
                  <a:pt x="299791" y="355600"/>
                </a:lnTo>
                <a:cubicBezTo>
                  <a:pt x="322157" y="355600"/>
                  <a:pt x="341136" y="337185"/>
                  <a:pt x="344452" y="312341"/>
                </a:cubicBezTo>
                <a:lnTo>
                  <a:pt x="367453" y="139700"/>
                </a:lnTo>
                <a:cubicBezTo>
                  <a:pt x="382764" y="139383"/>
                  <a:pt x="395111" y="125254"/>
                  <a:pt x="395111" y="107950"/>
                </a:cubicBezTo>
                <a:cubicBezTo>
                  <a:pt x="395111" y="90408"/>
                  <a:pt x="382482" y="76200"/>
                  <a:pt x="366889" y="76200"/>
                </a:cubicBezTo>
                <a:cubicBezTo>
                  <a:pt x="351296" y="76200"/>
                  <a:pt x="338667" y="90408"/>
                  <a:pt x="338667" y="107950"/>
                </a:cubicBezTo>
                <a:cubicBezTo>
                  <a:pt x="338667" y="114618"/>
                  <a:pt x="340501" y="120888"/>
                  <a:pt x="343676" y="125968"/>
                </a:cubicBezTo>
                <a:lnTo>
                  <a:pt x="301766" y="161369"/>
                </a:lnTo>
                <a:cubicBezTo>
                  <a:pt x="291253" y="170259"/>
                  <a:pt x="276225" y="167164"/>
                  <a:pt x="269169" y="154702"/>
                </a:cubicBezTo>
                <a:lnTo>
                  <a:pt x="220839" y="6921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387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Loyalty Program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23000" y="4254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airlines and OTAs rewards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22000" y="2921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03000" y="330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4094" y="5318"/>
                </a:moveTo>
                <a:cubicBezTo>
                  <a:pt x="379174" y="476"/>
                  <a:pt x="386556" y="-1270"/>
                  <a:pt x="393383" y="953"/>
                </a:cubicBezTo>
                <a:cubicBezTo>
                  <a:pt x="401161" y="3572"/>
                  <a:pt x="406400" y="10874"/>
                  <a:pt x="406400" y="19050"/>
                </a:cubicBezTo>
                <a:lnTo>
                  <a:pt x="406400" y="167402"/>
                </a:lnTo>
                <a:cubicBezTo>
                  <a:pt x="406400" y="271542"/>
                  <a:pt x="320596" y="355600"/>
                  <a:pt x="216853" y="355600"/>
                </a:cubicBezTo>
                <a:cubicBezTo>
                  <a:pt x="155734" y="355600"/>
                  <a:pt x="103029" y="316309"/>
                  <a:pt x="83899" y="261382"/>
                </a:cubicBezTo>
                <a:cubicBezTo>
                  <a:pt x="55801" y="285829"/>
                  <a:pt x="38100" y="321786"/>
                  <a:pt x="38100" y="361950"/>
                </a:cubicBezTo>
                <a:cubicBezTo>
                  <a:pt x="38100" y="372507"/>
                  <a:pt x="29607" y="381000"/>
                  <a:pt x="19050" y="381000"/>
                </a:cubicBezTo>
                <a:cubicBezTo>
                  <a:pt x="8493" y="381000"/>
                  <a:pt x="0" y="372507"/>
                  <a:pt x="0" y="361950"/>
                </a:cubicBezTo>
                <a:cubicBezTo>
                  <a:pt x="0" y="302498"/>
                  <a:pt x="30321" y="250111"/>
                  <a:pt x="76279" y="219313"/>
                </a:cubicBezTo>
                <a:cubicBezTo>
                  <a:pt x="104299" y="200581"/>
                  <a:pt x="137716" y="190500"/>
                  <a:pt x="171450" y="190500"/>
                </a:cubicBezTo>
                <a:lnTo>
                  <a:pt x="234950" y="190500"/>
                </a:lnTo>
                <a:cubicBezTo>
                  <a:pt x="245507" y="190500"/>
                  <a:pt x="254000" y="182007"/>
                  <a:pt x="254000" y="171450"/>
                </a:cubicBezTo>
                <a:cubicBezTo>
                  <a:pt x="254000" y="160893"/>
                  <a:pt x="245507" y="152400"/>
                  <a:pt x="234950" y="152400"/>
                </a:cubicBezTo>
                <a:lnTo>
                  <a:pt x="171450" y="152400"/>
                </a:lnTo>
                <a:cubicBezTo>
                  <a:pt x="139938" y="152400"/>
                  <a:pt x="110093" y="159385"/>
                  <a:pt x="83344" y="171847"/>
                </a:cubicBezTo>
                <a:cubicBezTo>
                  <a:pt x="101838" y="116284"/>
                  <a:pt x="154146" y="76200"/>
                  <a:pt x="215900" y="76200"/>
                </a:cubicBezTo>
                <a:cubicBezTo>
                  <a:pt x="268605" y="76200"/>
                  <a:pt x="307816" y="58658"/>
                  <a:pt x="333931" y="41275"/>
                </a:cubicBezTo>
                <a:cubicBezTo>
                  <a:pt x="349171" y="31115"/>
                  <a:pt x="362109" y="18971"/>
                  <a:pt x="374174" y="5318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3873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Carbon Footprint Filter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303000" y="4254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Eco-conscious travel options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5080000"/>
            <a:ext cx="6858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032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Ancillary Services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64135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Insurance, baggage, lounge integrations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8000" y="5080000"/>
            <a:ext cx="7366000" cy="1778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9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8509000" y="6032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Expansion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9000" y="64135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Localized interfaces for international markets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7366000"/>
            <a:ext cx="2032000" cy="571500"/>
          </a:xfrm>
          <a:prstGeom prst="roundRect">
            <a:avLst>
              <a:gd name="adj" fmla="val 14000"/>
            </a:avLst>
          </a:prstGeom>
          <a:solidFill>
            <a:srgbClr val="D4AF37">
              <a:alpha val="823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000" y="73660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Future Roadmap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10_Startup_Business_Team_on_Meeting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THIRTEEN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Lessons Learned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through building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Growth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62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SkyScan required integrating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third-party APIs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different data formats and response times.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learned the importance of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error handling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caching strategies, and graceful degradation.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API failure is an opportunity to build a more resilient system.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461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6385" y="1072"/>
                </a:moveTo>
                <a:cubicBezTo>
                  <a:pt x="272891" y="-3304"/>
                  <a:pt x="258842" y="5536"/>
                  <a:pt x="254953" y="20717"/>
                </a:cubicBezTo>
                <a:lnTo>
                  <a:pt x="153353" y="420767"/>
                </a:lnTo>
                <a:cubicBezTo>
                  <a:pt x="149463" y="435947"/>
                  <a:pt x="157321" y="451753"/>
                  <a:pt x="170815" y="456128"/>
                </a:cubicBezTo>
                <a:cubicBezTo>
                  <a:pt x="184309" y="460504"/>
                  <a:pt x="198358" y="451664"/>
                  <a:pt x="202248" y="436483"/>
                </a:cubicBezTo>
                <a:lnTo>
                  <a:pt x="303848" y="36433"/>
                </a:lnTo>
                <a:cubicBezTo>
                  <a:pt x="307737" y="21253"/>
                  <a:pt x="299879" y="5447"/>
                  <a:pt x="286385" y="1072"/>
                </a:cubicBezTo>
                <a:close/>
                <a:moveTo>
                  <a:pt x="337661" y="122605"/>
                </a:moveTo>
                <a:cubicBezTo>
                  <a:pt x="327739" y="133767"/>
                  <a:pt x="327739" y="151894"/>
                  <a:pt x="337661" y="163056"/>
                </a:cubicBezTo>
                <a:lnTo>
                  <a:pt x="395922" y="228600"/>
                </a:lnTo>
                <a:lnTo>
                  <a:pt x="337661" y="294144"/>
                </a:lnTo>
                <a:cubicBezTo>
                  <a:pt x="327739" y="305306"/>
                  <a:pt x="327739" y="323433"/>
                  <a:pt x="337661" y="334595"/>
                </a:cubicBezTo>
                <a:cubicBezTo>
                  <a:pt x="347583" y="345758"/>
                  <a:pt x="363696" y="345758"/>
                  <a:pt x="373618" y="334595"/>
                </a:cubicBezTo>
                <a:lnTo>
                  <a:pt x="449818" y="248870"/>
                </a:lnTo>
                <a:cubicBezTo>
                  <a:pt x="459740" y="237708"/>
                  <a:pt x="459740" y="219581"/>
                  <a:pt x="449818" y="208419"/>
                </a:cubicBezTo>
                <a:lnTo>
                  <a:pt x="373618" y="122694"/>
                </a:lnTo>
                <a:cubicBezTo>
                  <a:pt x="363696" y="111532"/>
                  <a:pt x="347583" y="111532"/>
                  <a:pt x="337661" y="122694"/>
                </a:cubicBezTo>
                <a:close/>
                <a:moveTo>
                  <a:pt x="119618" y="122605"/>
                </a:moveTo>
                <a:cubicBezTo>
                  <a:pt x="109696" y="111442"/>
                  <a:pt x="93583" y="111442"/>
                  <a:pt x="83661" y="122605"/>
                </a:cubicBezTo>
                <a:lnTo>
                  <a:pt x="7461" y="208330"/>
                </a:lnTo>
                <a:cubicBezTo>
                  <a:pt x="-2461" y="219492"/>
                  <a:pt x="-2461" y="237619"/>
                  <a:pt x="7461" y="248781"/>
                </a:cubicBezTo>
                <a:lnTo>
                  <a:pt x="83661" y="334506"/>
                </a:lnTo>
                <a:cubicBezTo>
                  <a:pt x="93583" y="345668"/>
                  <a:pt x="109696" y="345668"/>
                  <a:pt x="119618" y="334506"/>
                </a:cubicBezTo>
                <a:cubicBezTo>
                  <a:pt x="129540" y="323344"/>
                  <a:pt x="129540" y="305217"/>
                  <a:pt x="119618" y="294055"/>
                </a:cubicBezTo>
                <a:lnTo>
                  <a:pt x="61357" y="228600"/>
                </a:lnTo>
                <a:lnTo>
                  <a:pt x="119539" y="163056"/>
                </a:lnTo>
                <a:cubicBezTo>
                  <a:pt x="129461" y="151894"/>
                  <a:pt x="129461" y="133767"/>
                  <a:pt x="119539" y="12260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64262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Integration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68072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Mastered working with diverse data formats and unreliable external services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42000" y="5461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3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64262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Resilience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23000" y="68072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fallback systems that keep working even when dependencies fail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22000" y="2032000"/>
            <a:ext cx="4572000" cy="5969000"/>
          </a:xfrm>
          <a:prstGeom prst="roundRect">
            <a:avLst>
              <a:gd name="adj" fmla="val 6000"/>
            </a:avLst>
          </a:prstGeom>
          <a:solidFill>
            <a:srgbClr val="D4AF37">
              <a:alpha val="627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03000" y="3175000"/>
            <a:ext cx="381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"Every bug taught us something new."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303000" y="5969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skills grow fastest when solving real problems.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Lessons Learned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Thinking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762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great product is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enough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Understanding the business model, identifying revenue streams, and building partnerships are equally critical.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learned to think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beyond features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focus on value creation for both users and partners.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953000"/>
            <a:ext cx="4572000" cy="2921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9182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Product-Market Fit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62992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what users actually need, not what we think they want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42000" y="4953000"/>
            <a:ext cx="4572000" cy="2921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3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85725"/>
                </a:moveTo>
                <a:lnTo>
                  <a:pt x="114300" y="71438"/>
                </a:lnTo>
                <a:cubicBezTo>
                  <a:pt x="114300" y="31968"/>
                  <a:pt x="191095" y="0"/>
                  <a:pt x="285750" y="0"/>
                </a:cubicBezTo>
                <a:cubicBezTo>
                  <a:pt x="380405" y="0"/>
                  <a:pt x="457200" y="31968"/>
                  <a:pt x="457200" y="71438"/>
                </a:cubicBezTo>
                <a:lnTo>
                  <a:pt x="457200" y="85725"/>
                </a:lnTo>
                <a:cubicBezTo>
                  <a:pt x="457200" y="113050"/>
                  <a:pt x="420320" y="136803"/>
                  <a:pt x="366117" y="148858"/>
                </a:cubicBezTo>
                <a:cubicBezTo>
                  <a:pt x="363974" y="146358"/>
                  <a:pt x="361742" y="143947"/>
                  <a:pt x="359509" y="141714"/>
                </a:cubicBezTo>
                <a:cubicBezTo>
                  <a:pt x="345668" y="128052"/>
                  <a:pt x="327809" y="117693"/>
                  <a:pt x="309146" y="110014"/>
                </a:cubicBezTo>
                <a:cubicBezTo>
                  <a:pt x="271730" y="94387"/>
                  <a:pt x="222974" y="85814"/>
                  <a:pt x="171450" y="85814"/>
                </a:cubicBezTo>
                <a:cubicBezTo>
                  <a:pt x="151894" y="85814"/>
                  <a:pt x="132784" y="87064"/>
                  <a:pt x="114479" y="89475"/>
                </a:cubicBezTo>
                <a:cubicBezTo>
                  <a:pt x="114300" y="88315"/>
                  <a:pt x="114300" y="87064"/>
                  <a:pt x="114300" y="85814"/>
                </a:cubicBezTo>
                <a:close/>
                <a:moveTo>
                  <a:pt x="385763" y="315218"/>
                </a:moveTo>
                <a:lnTo>
                  <a:pt x="385763" y="273963"/>
                </a:lnTo>
                <a:cubicBezTo>
                  <a:pt x="399246" y="270480"/>
                  <a:pt x="411926" y="266373"/>
                  <a:pt x="423446" y="261551"/>
                </a:cubicBezTo>
                <a:cubicBezTo>
                  <a:pt x="435233" y="256639"/>
                  <a:pt x="446752" y="250656"/>
                  <a:pt x="457200" y="243423"/>
                </a:cubicBezTo>
                <a:lnTo>
                  <a:pt x="457200" y="257175"/>
                </a:lnTo>
                <a:cubicBezTo>
                  <a:pt x="457200" y="281107"/>
                  <a:pt x="429071" y="302270"/>
                  <a:pt x="385763" y="315218"/>
                </a:cubicBezTo>
                <a:close/>
                <a:moveTo>
                  <a:pt x="385763" y="229493"/>
                </a:moveTo>
                <a:lnTo>
                  <a:pt x="385763" y="200025"/>
                </a:lnTo>
                <a:cubicBezTo>
                  <a:pt x="385763" y="196007"/>
                  <a:pt x="385405" y="192167"/>
                  <a:pt x="384870" y="188416"/>
                </a:cubicBezTo>
                <a:cubicBezTo>
                  <a:pt x="398711" y="184934"/>
                  <a:pt x="411659" y="180737"/>
                  <a:pt x="423446" y="175736"/>
                </a:cubicBezTo>
                <a:cubicBezTo>
                  <a:pt x="435233" y="170736"/>
                  <a:pt x="446752" y="164842"/>
                  <a:pt x="457200" y="157609"/>
                </a:cubicBezTo>
                <a:lnTo>
                  <a:pt x="457200" y="171361"/>
                </a:lnTo>
                <a:cubicBezTo>
                  <a:pt x="457200" y="195292"/>
                  <a:pt x="429071" y="216456"/>
                  <a:pt x="385763" y="229404"/>
                </a:cubicBezTo>
                <a:close/>
                <a:moveTo>
                  <a:pt x="0" y="214313"/>
                </a:moveTo>
                <a:lnTo>
                  <a:pt x="0" y="200025"/>
                </a:lnTo>
                <a:cubicBezTo>
                  <a:pt x="0" y="160556"/>
                  <a:pt x="76795" y="128588"/>
                  <a:pt x="171450" y="128588"/>
                </a:cubicBezTo>
                <a:cubicBezTo>
                  <a:pt x="266105" y="128588"/>
                  <a:pt x="342900" y="160556"/>
                  <a:pt x="342900" y="200025"/>
                </a:cubicBezTo>
                <a:lnTo>
                  <a:pt x="342900" y="214313"/>
                </a:lnTo>
                <a:cubicBezTo>
                  <a:pt x="342900" y="253782"/>
                  <a:pt x="266105" y="285750"/>
                  <a:pt x="171450" y="285750"/>
                </a:cubicBezTo>
                <a:cubicBezTo>
                  <a:pt x="76795" y="285750"/>
                  <a:pt x="0" y="253782"/>
                  <a:pt x="0" y="214313"/>
                </a:cubicBezTo>
                <a:close/>
                <a:moveTo>
                  <a:pt x="342900" y="300038"/>
                </a:moveTo>
                <a:cubicBezTo>
                  <a:pt x="342900" y="339507"/>
                  <a:pt x="266105" y="371475"/>
                  <a:pt x="171450" y="371475"/>
                </a:cubicBezTo>
                <a:cubicBezTo>
                  <a:pt x="76795" y="371475"/>
                  <a:pt x="0" y="339507"/>
                  <a:pt x="0" y="300038"/>
                </a:cubicBezTo>
                <a:lnTo>
                  <a:pt x="0" y="286286"/>
                </a:lnTo>
                <a:cubicBezTo>
                  <a:pt x="10358" y="293519"/>
                  <a:pt x="21878" y="299412"/>
                  <a:pt x="33754" y="304413"/>
                </a:cubicBezTo>
                <a:cubicBezTo>
                  <a:pt x="71170" y="320040"/>
                  <a:pt x="119926" y="328613"/>
                  <a:pt x="171450" y="328613"/>
                </a:cubicBezTo>
                <a:cubicBezTo>
                  <a:pt x="222974" y="328613"/>
                  <a:pt x="271730" y="319951"/>
                  <a:pt x="309146" y="304413"/>
                </a:cubicBezTo>
                <a:cubicBezTo>
                  <a:pt x="320933" y="299502"/>
                  <a:pt x="332452" y="293519"/>
                  <a:pt x="342900" y="286286"/>
                </a:cubicBezTo>
                <a:lnTo>
                  <a:pt x="342900" y="300038"/>
                </a:lnTo>
                <a:close/>
                <a:moveTo>
                  <a:pt x="342900" y="372011"/>
                </a:moveTo>
                <a:lnTo>
                  <a:pt x="342900" y="385763"/>
                </a:lnTo>
                <a:cubicBezTo>
                  <a:pt x="342900" y="425232"/>
                  <a:pt x="266105" y="457200"/>
                  <a:pt x="171450" y="457200"/>
                </a:cubicBezTo>
                <a:cubicBezTo>
                  <a:pt x="76795" y="457200"/>
                  <a:pt x="0" y="425232"/>
                  <a:pt x="0" y="385763"/>
                </a:cubicBezTo>
                <a:lnTo>
                  <a:pt x="0" y="372011"/>
                </a:lnTo>
                <a:cubicBezTo>
                  <a:pt x="10358" y="379244"/>
                  <a:pt x="21878" y="385137"/>
                  <a:pt x="33754" y="390138"/>
                </a:cubicBezTo>
                <a:cubicBezTo>
                  <a:pt x="71170" y="405765"/>
                  <a:pt x="119926" y="414338"/>
                  <a:pt x="171450" y="414338"/>
                </a:cubicBezTo>
                <a:cubicBezTo>
                  <a:pt x="222974" y="414338"/>
                  <a:pt x="271730" y="405676"/>
                  <a:pt x="309146" y="390138"/>
                </a:cubicBezTo>
                <a:cubicBezTo>
                  <a:pt x="320933" y="385227"/>
                  <a:pt x="332452" y="379244"/>
                  <a:pt x="342900" y="372011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59182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Mindset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23000" y="62992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feature should contribute to sustainable business growth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22000" y="2476500"/>
            <a:ext cx="4572000" cy="53975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700000" y="355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903817" y="476250"/>
                </a:moveTo>
                <a:lnTo>
                  <a:pt x="593372" y="476250"/>
                </a:lnTo>
                <a:cubicBezTo>
                  <a:pt x="562151" y="476250"/>
                  <a:pt x="536928" y="447873"/>
                  <a:pt x="536928" y="412750"/>
                </a:cubicBezTo>
                <a:lnTo>
                  <a:pt x="536928" y="63500"/>
                </a:lnTo>
                <a:cubicBezTo>
                  <a:pt x="536928" y="28377"/>
                  <a:pt x="562328" y="-397"/>
                  <a:pt x="593196" y="4167"/>
                </a:cubicBezTo>
                <a:cubicBezTo>
                  <a:pt x="781932" y="32345"/>
                  <a:pt x="931510" y="200620"/>
                  <a:pt x="956557" y="412948"/>
                </a:cubicBezTo>
                <a:cubicBezTo>
                  <a:pt x="960614" y="447675"/>
                  <a:pt x="935038" y="476250"/>
                  <a:pt x="903817" y="476250"/>
                </a:cubicBezTo>
                <a:close/>
                <a:moveTo>
                  <a:pt x="392642" y="73819"/>
                </a:moveTo>
                <a:cubicBezTo>
                  <a:pt x="424568" y="66278"/>
                  <a:pt x="452261" y="95647"/>
                  <a:pt x="452261" y="132358"/>
                </a:cubicBezTo>
                <a:lnTo>
                  <a:pt x="452261" y="523875"/>
                </a:lnTo>
                <a:cubicBezTo>
                  <a:pt x="452261" y="534988"/>
                  <a:pt x="455789" y="545703"/>
                  <a:pt x="461963" y="554236"/>
                </a:cubicBezTo>
                <a:lnTo>
                  <a:pt x="694972" y="870545"/>
                </a:lnTo>
                <a:cubicBezTo>
                  <a:pt x="715610" y="898525"/>
                  <a:pt x="711200" y="940792"/>
                  <a:pt x="682801" y="958056"/>
                </a:cubicBezTo>
                <a:cubicBezTo>
                  <a:pt x="622653" y="994966"/>
                  <a:pt x="553685" y="1016000"/>
                  <a:pt x="480483" y="1016000"/>
                </a:cubicBezTo>
                <a:cubicBezTo>
                  <a:pt x="246768" y="1016000"/>
                  <a:pt x="57150" y="802680"/>
                  <a:pt x="57150" y="539750"/>
                </a:cubicBezTo>
                <a:cubicBezTo>
                  <a:pt x="57150" y="310555"/>
                  <a:pt x="200907" y="119261"/>
                  <a:pt x="392642" y="73819"/>
                </a:cubicBezTo>
                <a:close/>
                <a:moveTo>
                  <a:pt x="842786" y="571500"/>
                </a:moveTo>
                <a:lnTo>
                  <a:pt x="955675" y="571500"/>
                </a:lnTo>
                <a:cubicBezTo>
                  <a:pt x="988307" y="571500"/>
                  <a:pt x="1014413" y="602655"/>
                  <a:pt x="1007710" y="638572"/>
                </a:cubicBezTo>
                <a:cubicBezTo>
                  <a:pt x="989718" y="734616"/>
                  <a:pt x="945974" y="819944"/>
                  <a:pt x="884943" y="885031"/>
                </a:cubicBezTo>
                <a:cubicBezTo>
                  <a:pt x="863247" y="908248"/>
                  <a:pt x="829204" y="903288"/>
                  <a:pt x="810154" y="877292"/>
                </a:cubicBezTo>
                <a:lnTo>
                  <a:pt x="661282" y="675481"/>
                </a:lnTo>
                <a:cubicBezTo>
                  <a:pt x="630767" y="634008"/>
                  <a:pt x="657049" y="571500"/>
                  <a:pt x="704674" y="571500"/>
                </a:cubicBezTo>
                <a:lnTo>
                  <a:pt x="842610" y="5715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4953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303000" y="55880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enables business.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drives impact.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must work together.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Lessons Learned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127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 &amp; Collaboration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765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bug taught us something new. Every user feedback session revealed blind spots. Working as a team meant combining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skills with design sensibility and business acumen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best solutions emerged from diverse perspectives and relentless iteration.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445000"/>
            <a:ext cx="4572000" cy="3429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488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5875"/>
                </a:moveTo>
                <a:cubicBezTo>
                  <a:pt x="299561" y="15875"/>
                  <a:pt x="336550" y="62112"/>
                  <a:pt x="336550" y="119063"/>
                </a:cubicBezTo>
                <a:cubicBezTo>
                  <a:pt x="336550" y="176013"/>
                  <a:pt x="299561" y="222250"/>
                  <a:pt x="254000" y="222250"/>
                </a:cubicBezTo>
                <a:cubicBezTo>
                  <a:pt x="208439" y="222250"/>
                  <a:pt x="171450" y="176013"/>
                  <a:pt x="171450" y="119063"/>
                </a:cubicBezTo>
                <a:cubicBezTo>
                  <a:pt x="171450" y="62112"/>
                  <a:pt x="208439" y="15875"/>
                  <a:pt x="254000" y="15875"/>
                </a:cubicBezTo>
                <a:close/>
                <a:moveTo>
                  <a:pt x="76200" y="87313"/>
                </a:moveTo>
                <a:cubicBezTo>
                  <a:pt x="107742" y="87313"/>
                  <a:pt x="133350" y="119323"/>
                  <a:pt x="133350" y="158750"/>
                </a:cubicBezTo>
                <a:cubicBezTo>
                  <a:pt x="133350" y="198177"/>
                  <a:pt x="107742" y="230188"/>
                  <a:pt x="76200" y="230188"/>
                </a:cubicBezTo>
                <a:cubicBezTo>
                  <a:pt x="44658" y="230188"/>
                  <a:pt x="19050" y="198177"/>
                  <a:pt x="19050" y="158750"/>
                </a:cubicBezTo>
                <a:cubicBezTo>
                  <a:pt x="19050" y="119323"/>
                  <a:pt x="44658" y="87313"/>
                  <a:pt x="76200" y="87313"/>
                </a:cubicBezTo>
                <a:close/>
                <a:moveTo>
                  <a:pt x="0" y="412750"/>
                </a:moveTo>
                <a:cubicBezTo>
                  <a:pt x="0" y="342602"/>
                  <a:pt x="45482" y="285750"/>
                  <a:pt x="101600" y="285750"/>
                </a:cubicBezTo>
                <a:cubicBezTo>
                  <a:pt x="111760" y="285750"/>
                  <a:pt x="121603" y="287635"/>
                  <a:pt x="130889" y="291108"/>
                </a:cubicBezTo>
                <a:cubicBezTo>
                  <a:pt x="104775" y="327620"/>
                  <a:pt x="88900" y="375841"/>
                  <a:pt x="88900" y="428625"/>
                </a:cubicBezTo>
                <a:lnTo>
                  <a:pt x="88900" y="444500"/>
                </a:lnTo>
                <a:cubicBezTo>
                  <a:pt x="88900" y="455811"/>
                  <a:pt x="90805" y="466527"/>
                  <a:pt x="94218" y="476250"/>
                </a:cubicBezTo>
                <a:lnTo>
                  <a:pt x="25400" y="476250"/>
                </a:lnTo>
                <a:cubicBezTo>
                  <a:pt x="11351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413782" y="476250"/>
                </a:moveTo>
                <a:cubicBezTo>
                  <a:pt x="417195" y="466527"/>
                  <a:pt x="419100" y="455811"/>
                  <a:pt x="419100" y="444500"/>
                </a:cubicBezTo>
                <a:lnTo>
                  <a:pt x="419100" y="428625"/>
                </a:lnTo>
                <a:cubicBezTo>
                  <a:pt x="419100" y="375841"/>
                  <a:pt x="403225" y="327620"/>
                  <a:pt x="377111" y="291108"/>
                </a:cubicBezTo>
                <a:cubicBezTo>
                  <a:pt x="386398" y="287635"/>
                  <a:pt x="396240" y="285750"/>
                  <a:pt x="406400" y="285750"/>
                </a:cubicBezTo>
                <a:cubicBezTo>
                  <a:pt x="462518" y="285750"/>
                  <a:pt x="508000" y="342602"/>
                  <a:pt x="508000" y="412750"/>
                </a:cubicBezTo>
                <a:lnTo>
                  <a:pt x="508000" y="444500"/>
                </a:lnTo>
                <a:cubicBezTo>
                  <a:pt x="508000" y="462062"/>
                  <a:pt x="496649" y="476250"/>
                  <a:pt x="482600" y="476250"/>
                </a:cubicBezTo>
                <a:lnTo>
                  <a:pt x="413782" y="476250"/>
                </a:lnTo>
                <a:close/>
                <a:moveTo>
                  <a:pt x="374650" y="158750"/>
                </a:moveTo>
                <a:cubicBezTo>
                  <a:pt x="374650" y="119323"/>
                  <a:pt x="400258" y="87313"/>
                  <a:pt x="431800" y="87313"/>
                </a:cubicBezTo>
                <a:cubicBezTo>
                  <a:pt x="463342" y="87313"/>
                  <a:pt x="488950" y="119323"/>
                  <a:pt x="488950" y="158750"/>
                </a:cubicBezTo>
                <a:cubicBezTo>
                  <a:pt x="488950" y="198177"/>
                  <a:pt x="463342" y="230188"/>
                  <a:pt x="431800" y="230188"/>
                </a:cubicBezTo>
                <a:cubicBezTo>
                  <a:pt x="400258" y="230188"/>
                  <a:pt x="374650" y="198177"/>
                  <a:pt x="374650" y="158750"/>
                </a:cubicBezTo>
                <a:close/>
                <a:moveTo>
                  <a:pt x="127000" y="428625"/>
                </a:moveTo>
                <a:cubicBezTo>
                  <a:pt x="127000" y="340916"/>
                  <a:pt x="183833" y="269875"/>
                  <a:pt x="254000" y="269875"/>
                </a:cubicBezTo>
                <a:cubicBezTo>
                  <a:pt x="324167" y="269875"/>
                  <a:pt x="381000" y="340916"/>
                  <a:pt x="381000" y="428625"/>
                </a:cubicBezTo>
                <a:lnTo>
                  <a:pt x="381000" y="444500"/>
                </a:lnTo>
                <a:cubicBezTo>
                  <a:pt x="381000" y="462062"/>
                  <a:pt x="369649" y="476250"/>
                  <a:pt x="355600" y="476250"/>
                </a:cubicBezTo>
                <a:lnTo>
                  <a:pt x="152400" y="476250"/>
                </a:lnTo>
                <a:cubicBezTo>
                  <a:pt x="138351" y="476250"/>
                  <a:pt x="127000" y="462062"/>
                  <a:pt x="127000" y="444500"/>
                </a:cubicBezTo>
                <a:lnTo>
                  <a:pt x="127000" y="42862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58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Collaboration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60325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Diverse skills coming together. Developers, designers, and business thinkers united.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42000" y="4445000"/>
            <a:ext cx="4572000" cy="3429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3000" y="488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349" y="190500"/>
                </a:moveTo>
                <a:lnTo>
                  <a:pt x="484187" y="190500"/>
                </a:lnTo>
                <a:cubicBezTo>
                  <a:pt x="497384" y="190500"/>
                  <a:pt x="508000" y="179884"/>
                  <a:pt x="508000" y="166688"/>
                </a:cubicBezTo>
                <a:lnTo>
                  <a:pt x="508000" y="23812"/>
                </a:lnTo>
                <a:cubicBezTo>
                  <a:pt x="508000" y="14188"/>
                  <a:pt x="502245" y="5457"/>
                  <a:pt x="493316" y="1786"/>
                </a:cubicBezTo>
                <a:cubicBezTo>
                  <a:pt x="484386" y="-1885"/>
                  <a:pt x="474166" y="198"/>
                  <a:pt x="467320" y="6945"/>
                </a:cubicBezTo>
                <a:lnTo>
                  <a:pt x="416024" y="58341"/>
                </a:lnTo>
                <a:cubicBezTo>
                  <a:pt x="372070" y="21927"/>
                  <a:pt x="315516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ubicBezTo>
                  <a:pt x="78581" y="134441"/>
                  <a:pt x="158055" y="63500"/>
                  <a:pt x="254000" y="63500"/>
                </a:cubicBezTo>
                <a:cubicBezTo>
                  <a:pt x="298053" y="63500"/>
                  <a:pt x="338534" y="78383"/>
                  <a:pt x="370780" y="103485"/>
                </a:cubicBezTo>
                <a:lnTo>
                  <a:pt x="324445" y="149820"/>
                </a:lnTo>
                <a:cubicBezTo>
                  <a:pt x="317599" y="156666"/>
                  <a:pt x="315615" y="166886"/>
                  <a:pt x="319286" y="175816"/>
                </a:cubicBezTo>
                <a:cubicBezTo>
                  <a:pt x="322957" y="184745"/>
                  <a:pt x="331688" y="190500"/>
                  <a:pt x="341313" y="190500"/>
                </a:cubicBezTo>
                <a:lnTo>
                  <a:pt x="476349" y="190500"/>
                </a:lnTo>
                <a:close/>
                <a:moveTo>
                  <a:pt x="505520" y="290215"/>
                </a:moveTo>
                <a:cubicBezTo>
                  <a:pt x="508000" y="272852"/>
                  <a:pt x="495895" y="256778"/>
                  <a:pt x="478631" y="254298"/>
                </a:cubicBezTo>
                <a:cubicBezTo>
                  <a:pt x="461367" y="251817"/>
                  <a:pt x="445195" y="263922"/>
                  <a:pt x="442714" y="281186"/>
                </a:cubicBezTo>
                <a:cubicBezTo>
                  <a:pt x="429518" y="373459"/>
                  <a:pt x="350044" y="444401"/>
                  <a:pt x="254099" y="444401"/>
                </a:cubicBezTo>
                <a:cubicBezTo>
                  <a:pt x="210046" y="444401"/>
                  <a:pt x="169565" y="429518"/>
                  <a:pt x="137319" y="404416"/>
                </a:cubicBezTo>
                <a:lnTo>
                  <a:pt x="183555" y="358180"/>
                </a:lnTo>
                <a:cubicBezTo>
                  <a:pt x="190401" y="351334"/>
                  <a:pt x="192385" y="341114"/>
                  <a:pt x="188714" y="332184"/>
                </a:cubicBezTo>
                <a:cubicBezTo>
                  <a:pt x="185043" y="323255"/>
                  <a:pt x="176312" y="317500"/>
                  <a:pt x="166688" y="317500"/>
                </a:cubicBezTo>
                <a:lnTo>
                  <a:pt x="23812" y="317500"/>
                </a:lnTo>
                <a:cubicBezTo>
                  <a:pt x="10616" y="317500"/>
                  <a:pt x="0" y="328116"/>
                  <a:pt x="0" y="341313"/>
                </a:cubicBezTo>
                <a:lnTo>
                  <a:pt x="0" y="484187"/>
                </a:lnTo>
                <a:cubicBezTo>
                  <a:pt x="0" y="493812"/>
                  <a:pt x="5755" y="502543"/>
                  <a:pt x="14684" y="506214"/>
                </a:cubicBezTo>
                <a:cubicBezTo>
                  <a:pt x="23614" y="509885"/>
                  <a:pt x="33834" y="507802"/>
                  <a:pt x="40680" y="501055"/>
                </a:cubicBezTo>
                <a:lnTo>
                  <a:pt x="92075" y="449659"/>
                </a:lnTo>
                <a:cubicBezTo>
                  <a:pt x="135930" y="486073"/>
                  <a:pt x="192484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558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23000" y="60325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Build, test, learn, repeat. Each cycle produced a better product than the last.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0" y="4445000"/>
            <a:ext cx="4572000" cy="3429000"/>
          </a:xfrm>
          <a:prstGeom prst="roundRect">
            <a:avLst>
              <a:gd name="adj" fmla="val 8000"/>
            </a:avLst>
          </a:prstGeom>
          <a:solidFill>
            <a:srgbClr val="1A1A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03000" y="488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76634" y="298"/>
                </a:moveTo>
                <a:cubicBezTo>
                  <a:pt x="367804" y="1488"/>
                  <a:pt x="359569" y="6449"/>
                  <a:pt x="354409" y="14288"/>
                </a:cubicBezTo>
                <a:cubicBezTo>
                  <a:pt x="347663" y="24606"/>
                  <a:pt x="347464" y="38199"/>
                  <a:pt x="354013" y="48617"/>
                </a:cubicBezTo>
                <a:cubicBezTo>
                  <a:pt x="359569" y="57448"/>
                  <a:pt x="369391" y="61218"/>
                  <a:pt x="377627" y="66973"/>
                </a:cubicBezTo>
                <a:cubicBezTo>
                  <a:pt x="385068" y="72132"/>
                  <a:pt x="395089" y="80070"/>
                  <a:pt x="405110" y="90984"/>
                </a:cubicBezTo>
                <a:cubicBezTo>
                  <a:pt x="424954" y="112514"/>
                  <a:pt x="444302" y="144859"/>
                  <a:pt x="444302" y="190500"/>
                </a:cubicBezTo>
                <a:cubicBezTo>
                  <a:pt x="444302" y="208062"/>
                  <a:pt x="458490" y="222250"/>
                  <a:pt x="476052" y="222250"/>
                </a:cubicBezTo>
                <a:cubicBezTo>
                  <a:pt x="493613" y="222250"/>
                  <a:pt x="507802" y="208062"/>
                  <a:pt x="507802" y="190500"/>
                </a:cubicBezTo>
                <a:cubicBezTo>
                  <a:pt x="507802" y="125016"/>
                  <a:pt x="479524" y="77986"/>
                  <a:pt x="451743" y="47923"/>
                </a:cubicBezTo>
                <a:cubicBezTo>
                  <a:pt x="437952" y="32941"/>
                  <a:pt x="424160" y="22027"/>
                  <a:pt x="413742" y="14883"/>
                </a:cubicBezTo>
                <a:cubicBezTo>
                  <a:pt x="402828" y="7342"/>
                  <a:pt x="390426" y="-1587"/>
                  <a:pt x="376436" y="298"/>
                </a:cubicBezTo>
                <a:close/>
                <a:moveTo>
                  <a:pt x="238125" y="127000"/>
                </a:moveTo>
                <a:cubicBezTo>
                  <a:pt x="180975" y="127000"/>
                  <a:pt x="133846" y="170259"/>
                  <a:pt x="127695" y="225723"/>
                </a:cubicBezTo>
                <a:cubicBezTo>
                  <a:pt x="125809" y="243185"/>
                  <a:pt x="110034" y="255687"/>
                  <a:pt x="92670" y="253802"/>
                </a:cubicBezTo>
                <a:cubicBezTo>
                  <a:pt x="75307" y="251916"/>
                  <a:pt x="62706" y="236141"/>
                  <a:pt x="64591" y="218777"/>
                </a:cubicBezTo>
                <a:cubicBezTo>
                  <a:pt x="74216" y="131465"/>
                  <a:pt x="148233" y="63500"/>
                  <a:pt x="238125" y="63500"/>
                </a:cubicBezTo>
                <a:cubicBezTo>
                  <a:pt x="334566" y="63500"/>
                  <a:pt x="412750" y="141684"/>
                  <a:pt x="412750" y="238125"/>
                </a:cubicBezTo>
                <a:cubicBezTo>
                  <a:pt x="412750" y="283766"/>
                  <a:pt x="395188" y="325338"/>
                  <a:pt x="366514" y="356493"/>
                </a:cubicBezTo>
                <a:cubicBezTo>
                  <a:pt x="354608" y="369391"/>
                  <a:pt x="349250" y="381099"/>
                  <a:pt x="349250" y="390922"/>
                </a:cubicBezTo>
                <a:lnTo>
                  <a:pt x="349250" y="396974"/>
                </a:lnTo>
                <a:cubicBezTo>
                  <a:pt x="349250" y="458391"/>
                  <a:pt x="299541" y="508099"/>
                  <a:pt x="238125" y="508099"/>
                </a:cubicBezTo>
                <a:cubicBezTo>
                  <a:pt x="220563" y="508099"/>
                  <a:pt x="206375" y="493911"/>
                  <a:pt x="206375" y="476349"/>
                </a:cubicBezTo>
                <a:cubicBezTo>
                  <a:pt x="206375" y="458788"/>
                  <a:pt x="220563" y="444599"/>
                  <a:pt x="238125" y="444599"/>
                </a:cubicBezTo>
                <a:cubicBezTo>
                  <a:pt x="264418" y="444599"/>
                  <a:pt x="285750" y="423267"/>
                  <a:pt x="285750" y="396974"/>
                </a:cubicBezTo>
                <a:lnTo>
                  <a:pt x="285750" y="390922"/>
                </a:lnTo>
                <a:cubicBezTo>
                  <a:pt x="285750" y="358279"/>
                  <a:pt x="303014" y="331788"/>
                  <a:pt x="319881" y="313531"/>
                </a:cubicBezTo>
                <a:cubicBezTo>
                  <a:pt x="338137" y="293688"/>
                  <a:pt x="349250" y="267295"/>
                  <a:pt x="349250" y="238224"/>
                </a:cubicBezTo>
                <a:cubicBezTo>
                  <a:pt x="349250" y="176808"/>
                  <a:pt x="299541" y="127099"/>
                  <a:pt x="238125" y="127099"/>
                </a:cubicBezTo>
                <a:close/>
                <a:moveTo>
                  <a:pt x="0" y="476250"/>
                </a:moveTo>
                <a:cubicBezTo>
                  <a:pt x="0" y="458727"/>
                  <a:pt x="14227" y="444500"/>
                  <a:pt x="31750" y="444500"/>
                </a:cubicBezTo>
                <a:cubicBezTo>
                  <a:pt x="49273" y="444500"/>
                  <a:pt x="63500" y="458727"/>
                  <a:pt x="63500" y="476250"/>
                </a:cubicBezTo>
                <a:cubicBezTo>
                  <a:pt x="63500" y="493773"/>
                  <a:pt x="49273" y="508000"/>
                  <a:pt x="31750" y="508000"/>
                </a:cubicBezTo>
                <a:cubicBezTo>
                  <a:pt x="14227" y="508000"/>
                  <a:pt x="0" y="493773"/>
                  <a:pt x="0" y="476250"/>
                </a:cubicBezTo>
                <a:close/>
                <a:moveTo>
                  <a:pt x="158750" y="381000"/>
                </a:moveTo>
                <a:cubicBezTo>
                  <a:pt x="176273" y="381000"/>
                  <a:pt x="190500" y="366773"/>
                  <a:pt x="190500" y="349250"/>
                </a:cubicBezTo>
                <a:cubicBezTo>
                  <a:pt x="190500" y="331727"/>
                  <a:pt x="176273" y="317500"/>
                  <a:pt x="158750" y="317500"/>
                </a:cubicBezTo>
                <a:cubicBezTo>
                  <a:pt x="141227" y="317500"/>
                  <a:pt x="127000" y="331727"/>
                  <a:pt x="127000" y="349250"/>
                </a:cubicBezTo>
                <a:cubicBezTo>
                  <a:pt x="127000" y="366773"/>
                  <a:pt x="141227" y="381000"/>
                  <a:pt x="158750" y="381000"/>
                </a:cubicBezTo>
                <a:close/>
                <a:moveTo>
                  <a:pt x="85923" y="358577"/>
                </a:moveTo>
                <a:cubicBezTo>
                  <a:pt x="73521" y="346174"/>
                  <a:pt x="53380" y="346174"/>
                  <a:pt x="40977" y="358577"/>
                </a:cubicBezTo>
                <a:cubicBezTo>
                  <a:pt x="28575" y="370979"/>
                  <a:pt x="28575" y="391120"/>
                  <a:pt x="40977" y="403523"/>
                </a:cubicBezTo>
                <a:lnTo>
                  <a:pt x="104477" y="467023"/>
                </a:lnTo>
                <a:cubicBezTo>
                  <a:pt x="116880" y="479425"/>
                  <a:pt x="137021" y="479425"/>
                  <a:pt x="149423" y="467023"/>
                </a:cubicBezTo>
                <a:cubicBezTo>
                  <a:pt x="161826" y="454620"/>
                  <a:pt x="161826" y="434479"/>
                  <a:pt x="149423" y="422077"/>
                </a:cubicBezTo>
                <a:lnTo>
                  <a:pt x="85923" y="358577"/>
                </a:lnTo>
                <a:close/>
                <a:moveTo>
                  <a:pt x="238125" y="206375"/>
                </a:moveTo>
                <a:cubicBezTo>
                  <a:pt x="220563" y="206375"/>
                  <a:pt x="206375" y="220563"/>
                  <a:pt x="206375" y="238125"/>
                </a:cubicBezTo>
                <a:cubicBezTo>
                  <a:pt x="206375" y="251321"/>
                  <a:pt x="195759" y="261937"/>
                  <a:pt x="182563" y="261937"/>
                </a:cubicBezTo>
                <a:cubicBezTo>
                  <a:pt x="169366" y="261937"/>
                  <a:pt x="158750" y="251321"/>
                  <a:pt x="158750" y="238125"/>
                </a:cubicBezTo>
                <a:cubicBezTo>
                  <a:pt x="158750" y="194270"/>
                  <a:pt x="194270" y="158750"/>
                  <a:pt x="238125" y="158750"/>
                </a:cubicBezTo>
                <a:cubicBezTo>
                  <a:pt x="281980" y="158750"/>
                  <a:pt x="317500" y="194270"/>
                  <a:pt x="317500" y="238125"/>
                </a:cubicBezTo>
                <a:cubicBezTo>
                  <a:pt x="317500" y="251321"/>
                  <a:pt x="306884" y="261937"/>
                  <a:pt x="293688" y="261937"/>
                </a:cubicBezTo>
                <a:cubicBezTo>
                  <a:pt x="280491" y="261937"/>
                  <a:pt x="269875" y="251321"/>
                  <a:pt x="269875" y="238125"/>
                </a:cubicBezTo>
                <a:cubicBezTo>
                  <a:pt x="269875" y="220563"/>
                  <a:pt x="255687" y="206375"/>
                  <a:pt x="238125" y="20637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558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Feedback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303000" y="60325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Listening to real users shaped our roadmap more than any internal plan.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12700000" y="876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Lessons Learned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8_Airplane_Taking_Off_at_Night_Dynamic.png">    </p:cNvPr>
          <p:cNvPicPr>
            <a:picLocks noChangeAspect="1"/>
          </p:cNvPicPr>
          <p:nvPr/>
        </p:nvPicPr>
        <p:blipFill>
          <a:blip r:embed="rId1"/>
          <a:srcRect l="0" r="0" t="9532" b="953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95000"/>
                </a:srgbClr>
              </a:gs>
              <a:gs pos="60000">
                <a:srgbClr val="0A0A0C">
                  <a:alpha val="85000"/>
                </a:srgbClr>
              </a:gs>
              <a:gs pos="100000">
                <a:srgbClr val="0A0A0C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4064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FOURTEEN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2000" y="4508500"/>
            <a:ext cx="127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762500"/>
            <a:ext cx="762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spc="2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2000" y="571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flight search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gradFill rotWithShape="1" flip="none">
          <a:gsLst>
            <a:gs pos="0">
              <a:srgbClr val="0A0A0C"/>
            </a:gs>
            <a:gs pos="100000">
              <a:srgbClr val="121216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Mission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032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778000" y="3429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 exists to make flight search </a:t>
            </a:r>
            <a:pPr algn="l">
              <a:lnSpc>
                <a:spcPct val="130000"/>
              </a:lnSpc>
            </a:pPr>
            <a:r>
              <a:rPr lang="en-US" sz="32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effortless</a:t>
            </a:r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78000" y="4572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 world of overwhelming choices, we choose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over features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believe travelers deserve a tool that respects their time and intelligence.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search. Clear results. Zero stress.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is the SkyScan promise.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700000" y="2540000"/>
            <a:ext cx="38100" cy="5080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3208000" y="3048000"/>
            <a:ext cx="2286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SIMPLICITY</a:t>
            </a:r>
            <a:endParaRPr lang="en-US" sz="1600" dirty="0"/>
          </a:p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CLARITY</a:t>
            </a:r>
            <a:endParaRPr lang="en-US" sz="1600" dirty="0"/>
          </a:p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</a:t>
            </a:r>
            <a:endParaRPr lang="en-US" sz="1600" dirty="0"/>
          </a:p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</a:t>
            </a:r>
            <a:endParaRPr lang="en-US" sz="1600" dirty="0"/>
          </a:p>
          <a:p>
            <a:pPr algn="l">
              <a:lnSpc>
                <a:spcPct val="220000"/>
              </a:lnSpc>
            </a:pPr>
            <a:r>
              <a:rPr lang="en-US" sz="1600" spc="300" kern="0" dirty="0">
                <a:solidFill>
                  <a:srgbClr val="A0A09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3462000" y="8763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Vision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Sky Ahead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540000"/>
            <a:ext cx="762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8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Billion+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762000" y="3937000"/>
            <a:ext cx="762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flight searches worldwide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4699000"/>
            <a:ext cx="762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global flight search market is massive. Yet travelers remain frustrated.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SkyScan sees an opportunity to do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thing exceptionally well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are not building another super-app.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are building the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flight search experience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world.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0" y="2540000"/>
            <a:ext cx="6350000" cy="4699000"/>
          </a:xfrm>
          <a:prstGeom prst="roundRect">
            <a:avLst>
              <a:gd name="adj" fmla="val 6000"/>
            </a:avLst>
          </a:prstGeom>
          <a:solidFill>
            <a:srgbClr val="D4AF37">
              <a:alpha val="6275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38000" y="3429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09613" y="-39142"/>
                </a:moveTo>
                <a:cubicBezTo>
                  <a:pt x="722577" y="-44351"/>
                  <a:pt x="736865" y="-40630"/>
                  <a:pt x="746654" y="-29766"/>
                </a:cubicBezTo>
                <a:cubicBezTo>
                  <a:pt x="756444" y="-18901"/>
                  <a:pt x="759619" y="-2679"/>
                  <a:pt x="754989" y="11906"/>
                </a:cubicBezTo>
                <a:lnTo>
                  <a:pt x="519509" y="751433"/>
                </a:lnTo>
                <a:cubicBezTo>
                  <a:pt x="512895" y="772120"/>
                  <a:pt x="495565" y="785813"/>
                  <a:pt x="476118" y="785813"/>
                </a:cubicBezTo>
                <a:cubicBezTo>
                  <a:pt x="457332" y="785813"/>
                  <a:pt x="440399" y="773013"/>
                  <a:pt x="433387" y="753517"/>
                </a:cubicBezTo>
                <a:lnTo>
                  <a:pt x="348456" y="518368"/>
                </a:lnTo>
                <a:cubicBezTo>
                  <a:pt x="342503" y="501997"/>
                  <a:pt x="345149" y="483245"/>
                  <a:pt x="355335" y="469850"/>
                </a:cubicBezTo>
                <a:lnTo>
                  <a:pt x="480351" y="302568"/>
                </a:lnTo>
                <a:cubicBezTo>
                  <a:pt x="487098" y="293489"/>
                  <a:pt x="486569" y="280243"/>
                  <a:pt x="479160" y="271909"/>
                </a:cubicBezTo>
                <a:cubicBezTo>
                  <a:pt x="471752" y="263575"/>
                  <a:pt x="459846" y="262979"/>
                  <a:pt x="451908" y="270570"/>
                </a:cubicBezTo>
                <a:lnTo>
                  <a:pt x="303213" y="410914"/>
                </a:lnTo>
                <a:cubicBezTo>
                  <a:pt x="291174" y="422225"/>
                  <a:pt x="274638" y="425202"/>
                  <a:pt x="260085" y="418654"/>
                </a:cubicBezTo>
                <a:lnTo>
                  <a:pt x="50403" y="322659"/>
                </a:lnTo>
                <a:cubicBezTo>
                  <a:pt x="33073" y="314771"/>
                  <a:pt x="21696" y="295721"/>
                  <a:pt x="21696" y="274588"/>
                </a:cubicBezTo>
                <a:cubicBezTo>
                  <a:pt x="21696" y="252710"/>
                  <a:pt x="33867" y="233214"/>
                  <a:pt x="52255" y="225772"/>
                </a:cubicBezTo>
                <a:lnTo>
                  <a:pt x="709613" y="-39142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0" y="4572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North Star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52000" y="5207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problem.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solution.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Exceptional execution.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13462000" y="8763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Vision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adrb4ll2gc4a/mnt/agents/output/skyscan/images/8_A_sunset_view_from_a_plane_focusing.png">    </p:cNvPr>
          <p:cNvPicPr>
            <a:picLocks noChangeAspect="1"/>
          </p:cNvPicPr>
          <p:nvPr/>
        </p:nvPicPr>
        <p:blipFill>
          <a:blip r:embed="rId1"/>
          <a:srcRect l="0" r="0" t="34230" b="3423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C">
                  <a:alpha val="70000"/>
                </a:srgbClr>
              </a:gs>
              <a:gs pos="100000">
                <a:srgbClr val="0A0A0C">
                  <a:alpha val="90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286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48000" y="2921000"/>
            <a:ext cx="1016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spc="800" kern="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SkyScan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6858000" y="4445000"/>
            <a:ext cx="2540000" cy="25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762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spc="4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DESTINATION, ONE SEARCH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318000" y="5588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A0A0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53000" y="6604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u="sng" dirty="0">
                <a:solidFill>
                  <a:srgbClr val="6B6B65"/>
                </a:solidFill>
                <a:uFill>
                  <a:solidFill>
                    <a:srgbClr val="6B6B65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skyscan.runasp.net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88000" y="7874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6B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Graduation Project 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SkyScan - Every Destination, One Search</dc:title>
  <dc:subject>SkyScan - Every Destination, One Search</dc:subject>
  <dc:creator>Kimi</dc:creator>
  <cp:lastModifiedBy>Kimi</cp:lastModifiedBy>
  <cp:revision>1</cp:revision>
  <dcterms:created xsi:type="dcterms:W3CDTF">2026-07-09T02:42:16Z</dcterms:created>
  <dcterms:modified xsi:type="dcterms:W3CDTF">2026-07-09T02:42:16Z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{"Label":"SkyScan - Every Destination, One Search","ContentProducer":"001191110108MACG2KBH8F10000","ProduceID":"19f44183-6612-86a0-8000-00004f418bdf","ReservedCode1":"","ContentPropagator":"001191110108MACG2KBH8F20000","PropagateID":"19f44144-4cf2-873c-8000-091531f34300","ReservedCode2":""}</vt:lpwstr>
  </property>
</Properties>
</file>